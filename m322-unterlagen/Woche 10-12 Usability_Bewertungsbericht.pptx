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756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Kontext kurz setzen: Diese Präsentation begleitet die Arbeitsblätter für Woche 10 bis 12. Ziel ist nicht Theorie auswendig zu lernen, sondern systematisch zu bewerten und einen knappen Bericht zu erstellen. Platzhalter aus dem Auftrag wurden anhand der Dateien interpretiert: Modul M322, Woche 10–12, Zielgruppe Berufsschule Informatik, Sequenz mit 3 x 90 Minuten.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Einstiegsfrage: Welche Aussage würdet ihr in einem Bericht akzeptieren? Lernende kurz begründen lassen. Ziel: Von Geschmackssprache zu überprüfbaren Beobachtungen wechseln.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Folie klärt die Definition of Done. Nicht alle Details des Arbeitsblatts vorlesen; nur die vier Muss-Punkte markieren: 1 Seite, Beleg, Top-5, Abgabeform.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Roadmap macht transparent, warum heute geplant wird und später der Bericht leichter fällt. Die Outputs sind bewusst knapp gehalten.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Lernziele werden als Ich-kann-Ziele besprochen. Am Ende können die Lernenden ihren Zwischenstand gegen diese Liste prüfen.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Mini-Input nur kurz. Die drei Begriffe dienen als Brücke von Alltagsbeispielen zur systematischen Bewertung. Bei Bedarf ein Beispiel aus dem Schulalltag einbauen.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Arbeitsblatt steht: ISO oder Nielsen/Molich genügt. Ein Mischen ist nicht nötig. Diese Folie hilft Gruppen bei der Entscheidung.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Folie reduziert die zehn Heuristiken bewusst auf fünf gut merkbare Prüffragen. Für Gruppen, die Nielsen wählen, kann die vollständige Liste im Arbeitsblatt nachgeschlagen werden.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Checkliste ist keine Ersatz-Rubrik, sondern eine Suchhilfe. Die Klasse soll damit konkrete Stellen im Produkt finden.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eine Lehrperson-Demo. Nicht lange über Tkinter sprechen; nur zeigen, wie aus einem Beispiel ein knappes Finding mit Regel und Fix wird.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 ist die zentrale Methode für Woche 10 und 11. In der Demo ein leeres Issue-Log zeigen und genau diese sechs Felder ausfüllen lassen.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direkt vor der Gruppenarbeit zeigen. Timeboxing im Raum sichtbar lassen. Lehrperson hilft vor allem bei der Formulierung sinnvoller Top-Tasks.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Lernenden schreiben drei Tasks. Falls Gruppen zu technische Formulierungen wählen, zurück zur Persona fragen: Was will die Person erreichen?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Klasse arbeitet in zwei Durchläufen. Erst grob sammeln, danach gezielt prüfen. Möglichst Cross-Review nutzen, damit frische Augen bewerten.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als Sortierhilfe nutzen. Die Gruppen können ihre Issue-Liste durchgehen und jedem Issue kurz Punkte geben: Wirkung, Häufigkeit, Beleg, Fix.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 dem Schreiben das Template zeigen. Meilensteine aus der Planung nennen: Kontext/Methode bis Minute 20, Top-5 bis Minute 35, Fazit/Stärken bis Minute 55. KI nur als Sprachhilfe einsetzen, nicht als Quelle für neue Findings.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Peer-Review dauert ca. 15 Minuten. Die Lernenden prüfen nicht jeden Satz, sondern die Muss-Kriterien. Danach 15 Minuten Finalisieren.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Abschlussfolie am Ende von Woche 12 nutzen. Noch einmal auf mündliche Nachfragen hinweisen: Jede Person sollte die eigenen Findings erklären können.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EAR">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alpha val="0"/>
              </a:srgbClr>
            </a:solidFill>
            <a:prstDash val="solid"/>
          </a:ln>
        </p:spPr>
      </p:sp>
      <p:sp>
        <p:nvSpPr>
          <p:cNvPr id="3" name="Text 1"/>
          <p:cNvSpPr/>
          <p:nvPr/>
        </p:nvSpPr>
        <p:spPr>
          <a:xfrm>
            <a:off x="566928" y="502920"/>
            <a:ext cx="1005840" cy="310896"/>
          </a:xfrm>
          <a:prstGeom prst="rect">
            <a:avLst/>
          </a:prstGeom>
          <a:noFill/>
          <a:ln/>
        </p:spPr>
        <p:txBody>
          <a:bodyPr wrap="square" lIns="0" tIns="0" rIns="0" bIns="0" rtlCol="0" anchor="ctr"/>
          <a:lstStyle/>
          <a:p>
            <a:pPr marL="0" indent="0">
              <a:buNone/>
            </a:pPr>
            <a:r>
              <a:rPr lang="en-US" sz="1400" b="1" dirty="0">
                <a:solidFill>
                  <a:srgbClr val="0F766E"/>
                </a:solidFill>
                <a:latin typeface="Aptos" pitchFamily="34" charset="0"/>
                <a:ea typeface="Aptos" pitchFamily="34" charset="-122"/>
                <a:cs typeface="Aptos" pitchFamily="34" charset="-120"/>
              </a:rPr>
              <a:t>M322</a:t>
            </a:r>
            <a:endParaRPr lang="en-US" sz="1400" dirty="0"/>
          </a:p>
        </p:txBody>
      </p:sp>
      <p:sp>
        <p:nvSpPr>
          <p:cNvPr id="4" name="Text 2"/>
          <p:cNvSpPr/>
          <p:nvPr/>
        </p:nvSpPr>
        <p:spPr>
          <a:xfrm>
            <a:off x="566928" y="1124712"/>
            <a:ext cx="7863840" cy="685800"/>
          </a:xfrm>
          <a:prstGeom prst="rect">
            <a:avLst/>
          </a:prstGeom>
          <a:noFill/>
          <a:ln/>
        </p:spPr>
        <p:txBody>
          <a:bodyPr wrap="square" lIns="0" tIns="0" rIns="0" bIns="0" rtlCol="0" anchor="ctr"/>
          <a:lstStyle/>
          <a:p>
            <a:pPr marL="0" indent="0">
              <a:buNone/>
            </a:pPr>
            <a:r>
              <a:rPr lang="en-US" sz="4200" b="1" dirty="0">
                <a:solidFill>
                  <a:srgbClr val="111827"/>
                </a:solidFill>
                <a:latin typeface="Aptos Display" pitchFamily="34" charset="0"/>
                <a:ea typeface="Aptos Display" pitchFamily="34" charset="-122"/>
                <a:cs typeface="Aptos Display" pitchFamily="34" charset="-120"/>
              </a:rPr>
              <a:t>Usability bewerten</a:t>
            </a:r>
            <a:endParaRPr lang="en-US" sz="4200" dirty="0"/>
          </a:p>
        </p:txBody>
      </p:sp>
      <p:sp>
        <p:nvSpPr>
          <p:cNvPr id="5" name="Text 3"/>
          <p:cNvSpPr/>
          <p:nvPr/>
        </p:nvSpPr>
        <p:spPr>
          <a:xfrm>
            <a:off x="566928" y="1920240"/>
            <a:ext cx="7955280" cy="384048"/>
          </a:xfrm>
          <a:prstGeom prst="rect">
            <a:avLst/>
          </a:prstGeom>
          <a:noFill/>
          <a:ln/>
        </p:spPr>
        <p:txBody>
          <a:bodyPr wrap="square" lIns="0" tIns="0" rIns="0" bIns="0" rtlCol="0" anchor="ctr"/>
          <a:lstStyle/>
          <a:p>
            <a:pPr marL="0" indent="0">
              <a:buNone/>
            </a:pPr>
            <a:r>
              <a:rPr lang="en-US" sz="2100" dirty="0">
                <a:solidFill>
                  <a:srgbClr val="475569"/>
                </a:solidFill>
                <a:latin typeface="Aptos" pitchFamily="34" charset="0"/>
                <a:ea typeface="Aptos" pitchFamily="34" charset="-122"/>
                <a:cs typeface="Aptos" pitchFamily="34" charset="-120"/>
              </a:rPr>
              <a:t>Vom Bauchgefühl zum belegbaren Bewertungsbericht</a:t>
            </a:r>
            <a:endParaRPr lang="en-US" sz="2100" dirty="0"/>
          </a:p>
        </p:txBody>
      </p:sp>
      <p:sp>
        <p:nvSpPr>
          <p:cNvPr id="6" name="Text 4"/>
          <p:cNvSpPr/>
          <p:nvPr/>
        </p:nvSpPr>
        <p:spPr>
          <a:xfrm>
            <a:off x="566928" y="2514600"/>
            <a:ext cx="7772400" cy="329184"/>
          </a:xfrm>
          <a:prstGeom prst="rect">
            <a:avLst/>
          </a:prstGeom>
          <a:noFill/>
          <a:ln/>
        </p:spPr>
        <p:txBody>
          <a:bodyPr wrap="square" lIns="0" tIns="0" rIns="0" bIns="0" rtlCol="0" anchor="ctr"/>
          <a:lstStyle/>
          <a:p>
            <a:pPr marL="0" indent="0">
              <a:buNone/>
            </a:pPr>
            <a:r>
              <a:rPr lang="en-US" sz="1550" dirty="0">
                <a:solidFill>
                  <a:srgbClr val="64748B"/>
                </a:solidFill>
                <a:latin typeface="Aptos" pitchFamily="34" charset="0"/>
                <a:ea typeface="Aptos" pitchFamily="34" charset="-122"/>
                <a:cs typeface="Aptos" pitchFamily="34" charset="-120"/>
              </a:rPr>
              <a:t>Woche 10–12 · Informatikunterricht Berufsschule · 3 × 90 Minuten</a:t>
            </a:r>
            <a:endParaRPr lang="en-US" sz="1550" dirty="0"/>
          </a:p>
        </p:txBody>
      </p:sp>
      <p:sp>
        <p:nvSpPr>
          <p:cNvPr id="7" name="Text 5"/>
          <p:cNvSpPr/>
          <p:nvPr/>
        </p:nvSpPr>
        <p:spPr>
          <a:xfrm>
            <a:off x="9281160" y="1188720"/>
            <a:ext cx="1600200" cy="768096"/>
          </a:xfrm>
          <a:prstGeom prst="rect">
            <a:avLst/>
          </a:prstGeom>
          <a:solidFill>
            <a:srgbClr val="FFFFFF"/>
          </a:solidFill>
          <a:ln w="12700">
            <a:solidFill>
              <a:srgbClr val="CBD5E1"/>
            </a:solidFill>
          </a:ln>
        </p:spPr>
        <p:txBody>
          <a:bodyPr wrap="square" lIns="0" tIns="0" rIns="0" bIns="0" rtlCol="0" anchor="ctr"/>
          <a:lstStyle/>
          <a:p>
            <a:pPr marL="0" indent="0" algn="ctr">
              <a:buNone/>
            </a:pPr>
            <a:r>
              <a:rPr lang="en-US" sz="3200" b="1" dirty="0">
                <a:solidFill>
                  <a:srgbClr val="0F766E"/>
                </a:solidFill>
                <a:latin typeface="Aptos Display" pitchFamily="34" charset="0"/>
                <a:ea typeface="Aptos Display" pitchFamily="34" charset="-122"/>
                <a:cs typeface="Aptos Display" pitchFamily="34" charset="-120"/>
              </a:rPr>
              <a:t>1 A4</a:t>
            </a:r>
            <a:endParaRPr lang="en-US" sz="3200" dirty="0"/>
          </a:p>
        </p:txBody>
      </p:sp>
      <p:sp>
        <p:nvSpPr>
          <p:cNvPr id="8" name="Text 6"/>
          <p:cNvSpPr/>
          <p:nvPr/>
        </p:nvSpPr>
        <p:spPr>
          <a:xfrm>
            <a:off x="9098280" y="2057400"/>
            <a:ext cx="2103120" cy="640080"/>
          </a:xfrm>
          <a:prstGeom prst="rect">
            <a:avLst/>
          </a:prstGeom>
          <a:noFill/>
          <a:ln/>
        </p:spPr>
        <p:txBody>
          <a:bodyPr wrap="square" lIns="0" tIns="0" rIns="0" bIns="0" rtlCol="0" anchor="ctr"/>
          <a:lstStyle/>
          <a:p>
            <a:pPr marL="0" indent="0" algn="ctr">
              <a:buNone/>
            </a:pPr>
            <a:r>
              <a:rPr lang="en-US" sz="1450" dirty="0">
                <a:solidFill>
                  <a:srgbClr val="475569"/>
                </a:solidFill>
                <a:latin typeface="Aptos" pitchFamily="34" charset="0"/>
                <a:ea typeface="Aptos" pitchFamily="34" charset="-122"/>
                <a:cs typeface="Aptos" pitchFamily="34" charset="-120"/>
              </a:rPr>
              <a:t>Bericht</a:t>
            </a:r>
            <a:endParaRPr lang="en-US" sz="1450" dirty="0"/>
          </a:p>
          <a:p>
            <a:pPr marL="0" indent="0" algn="ctr">
              <a:buNone/>
            </a:pPr>
            <a:r>
              <a:rPr lang="en-US" sz="1450" dirty="0">
                <a:solidFill>
                  <a:srgbClr val="475569"/>
                </a:solidFill>
                <a:latin typeface="Aptos" pitchFamily="34" charset="0"/>
                <a:ea typeface="Aptos" pitchFamily="34" charset="-122"/>
                <a:cs typeface="Aptos" pitchFamily="34" charset="-120"/>
              </a:rPr>
              <a:t>mit Beleg + konkretem Fix</a:t>
            </a:r>
            <a:endParaRPr lang="en-US" sz="1450" dirty="0"/>
          </a:p>
        </p:txBody>
      </p:sp>
      <p:sp>
        <p:nvSpPr>
          <p:cNvPr id="9" name="Shape 7"/>
          <p:cNvSpPr/>
          <p:nvPr/>
        </p:nvSpPr>
        <p:spPr>
          <a:xfrm>
            <a:off x="9235440" y="2889504"/>
            <a:ext cx="1737360" cy="0"/>
          </a:xfrm>
          <a:prstGeom prst="line">
            <a:avLst/>
          </a:prstGeom>
          <a:noFill/>
          <a:ln w="27940">
            <a:solidFill>
              <a:srgbClr val="0F766E"/>
            </a:solidFill>
            <a:prstDash val="solid"/>
          </a:ln>
        </p:spPr>
      </p:sp>
      <p:sp>
        <p:nvSpPr>
          <p:cNvPr id="10" name="Text 8"/>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11" name="Text 9"/>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01</a:t>
            </a:r>
            <a:endParaRPr lang="en-US" sz="850" dirty="0"/>
          </a:p>
        </p:txBody>
      </p:sp>
      <p:sp>
        <p:nvSpPr>
          <p:cNvPr id="12" name="Text 10"/>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Quelle: Woche 10–12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AKTIVIEREN</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Einstieg: Ist das schon eine Bewertung?</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325880"/>
            <a:ext cx="438912" cy="438912"/>
          </a:xfrm>
          <a:prstGeom prst="rect">
            <a:avLst/>
          </a:prstGeom>
          <a:solidFill>
            <a:srgbClr val="FEE2E2"/>
          </a:solidFill>
          <a:ln>
            <a:solidFill>
              <a:srgbClr val="FEE2E2">
                <a:alpha val="0"/>
              </a:srgbClr>
            </a:solidFill>
          </a:ln>
        </p:spPr>
        <p:txBody>
          <a:bodyPr wrap="square" lIns="0" tIns="0" rIns="0" bIns="0" rtlCol="0" anchor="ctr"/>
          <a:lstStyle/>
          <a:p>
            <a:pPr marL="0" indent="0" algn="ctr">
              <a:buNone/>
            </a:pPr>
            <a:r>
              <a:rPr lang="en-US" sz="1700" b="1" dirty="0">
                <a:solidFill>
                  <a:srgbClr val="B91C1C"/>
                </a:solidFill>
                <a:latin typeface="Aptos" pitchFamily="34" charset="0"/>
                <a:ea typeface="Aptos" pitchFamily="34" charset="-122"/>
                <a:cs typeface="Aptos" pitchFamily="34" charset="-120"/>
              </a:rPr>
              <a:t>A</a:t>
            </a:r>
            <a:endParaRPr lang="en-US" sz="1700" dirty="0"/>
          </a:p>
        </p:txBody>
      </p:sp>
      <p:sp>
        <p:nvSpPr>
          <p:cNvPr id="6" name="Text 4"/>
          <p:cNvSpPr/>
          <p:nvPr/>
        </p:nvSpPr>
        <p:spPr>
          <a:xfrm>
            <a:off x="914400" y="1874520"/>
            <a:ext cx="4480560" cy="1965960"/>
          </a:xfrm>
          <a:prstGeom prst="rect">
            <a:avLst/>
          </a:prstGeom>
          <a:solidFill>
            <a:srgbClr val="FFFFFF"/>
          </a:solidFill>
          <a:ln w="12700">
            <a:solidFill>
              <a:srgbClr val="FCA5A5"/>
            </a:solidFill>
          </a:ln>
        </p:spPr>
        <p:txBody>
          <a:bodyPr wrap="square" lIns="0" tIns="0" rIns="0" bIns="0" rtlCol="0" anchor="ctr"/>
          <a:lstStyle/>
          <a:p>
            <a:pPr marL="0" indent="0">
              <a:buNone/>
            </a:pPr>
            <a:endParaRPr lang="en-US" dirty="0"/>
          </a:p>
        </p:txBody>
      </p:sp>
      <p:sp>
        <p:nvSpPr>
          <p:cNvPr id="7" name="Shape 5"/>
          <p:cNvSpPr/>
          <p:nvPr/>
        </p:nvSpPr>
        <p:spPr>
          <a:xfrm>
            <a:off x="914400" y="1874520"/>
            <a:ext cx="73152" cy="1965960"/>
          </a:xfrm>
          <a:prstGeom prst="rect">
            <a:avLst/>
          </a:prstGeom>
          <a:solidFill>
            <a:srgbClr val="B91C1C"/>
          </a:solidFill>
          <a:ln w="12700">
            <a:solidFill>
              <a:srgbClr val="B91C1C">
                <a:alpha val="0"/>
              </a:srgbClr>
            </a:solidFill>
            <a:prstDash val="solid"/>
          </a:ln>
        </p:spPr>
      </p:sp>
      <p:sp>
        <p:nvSpPr>
          <p:cNvPr id="8" name="Text 6"/>
          <p:cNvSpPr/>
          <p:nvPr/>
        </p:nvSpPr>
        <p:spPr>
          <a:xfrm>
            <a:off x="1133856" y="2057400"/>
            <a:ext cx="4041648" cy="310896"/>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Aussage 1</a:t>
            </a:r>
            <a:endParaRPr lang="en-US" sz="1750" dirty="0"/>
          </a:p>
        </p:txBody>
      </p:sp>
      <p:sp>
        <p:nvSpPr>
          <p:cNvPr id="9" name="Text 7"/>
          <p:cNvSpPr/>
          <p:nvPr/>
        </p:nvSpPr>
        <p:spPr>
          <a:xfrm>
            <a:off x="1133856" y="2478024"/>
            <a:ext cx="4041648" cy="119786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„Die Seite ist unübersichtlich.“</a:t>
            </a:r>
            <a:endParaRPr lang="en-US" sz="1800" dirty="0"/>
          </a:p>
          <a:p>
            <a:pPr marL="0" indent="0">
              <a:buNone/>
            </a:pPr>
            <a:endParaRPr lang="en-US" sz="1800" dirty="0"/>
          </a:p>
          <a:p>
            <a:pPr marL="0" indent="0">
              <a:buNone/>
            </a:pPr>
            <a:r>
              <a:rPr lang="en-US" sz="1800" dirty="0">
                <a:solidFill>
                  <a:srgbClr val="475569"/>
                </a:solidFill>
                <a:latin typeface="Aptos" pitchFamily="34" charset="0"/>
                <a:ea typeface="Aptos" pitchFamily="34" charset="-122"/>
                <a:cs typeface="Aptos" pitchFamily="34" charset="-120"/>
              </a:rPr>
              <a:t>→ Meinung: schwer benotbar, weil Ort, Wirkung und Regel fehlen.</a:t>
            </a:r>
            <a:endParaRPr lang="en-US" sz="1800" dirty="0"/>
          </a:p>
        </p:txBody>
      </p:sp>
      <p:sp>
        <p:nvSpPr>
          <p:cNvPr id="10" name="Text 8"/>
          <p:cNvSpPr/>
          <p:nvPr/>
        </p:nvSpPr>
        <p:spPr>
          <a:xfrm>
            <a:off x="6583680" y="1325880"/>
            <a:ext cx="438912" cy="438912"/>
          </a:xfrm>
          <a:prstGeom prst="rect">
            <a:avLst/>
          </a:prstGeom>
          <a:solidFill>
            <a:srgbClr val="DCFCE7"/>
          </a:solidFill>
          <a:ln>
            <a:solidFill>
              <a:srgbClr val="DCFCE7">
                <a:alpha val="0"/>
              </a:srgbClr>
            </a:solidFill>
          </a:ln>
        </p:spPr>
        <p:txBody>
          <a:bodyPr wrap="square" lIns="0" tIns="0" rIns="0" bIns="0" rtlCol="0" anchor="ctr"/>
          <a:lstStyle/>
          <a:p>
            <a:pPr marL="0" indent="0" algn="ctr">
              <a:buNone/>
            </a:pPr>
            <a:r>
              <a:rPr lang="en-US" sz="1700" b="1" dirty="0">
                <a:solidFill>
                  <a:srgbClr val="166534"/>
                </a:solidFill>
                <a:latin typeface="Aptos" pitchFamily="34" charset="0"/>
                <a:ea typeface="Aptos" pitchFamily="34" charset="-122"/>
                <a:cs typeface="Aptos" pitchFamily="34" charset="-120"/>
              </a:rPr>
              <a:t>B</a:t>
            </a:r>
            <a:endParaRPr lang="en-US" sz="1700" dirty="0"/>
          </a:p>
        </p:txBody>
      </p:sp>
      <p:sp>
        <p:nvSpPr>
          <p:cNvPr id="11" name="Text 9"/>
          <p:cNvSpPr/>
          <p:nvPr/>
        </p:nvSpPr>
        <p:spPr>
          <a:xfrm>
            <a:off x="6583680" y="1874520"/>
            <a:ext cx="4480560" cy="1965960"/>
          </a:xfrm>
          <a:prstGeom prst="rect">
            <a:avLst/>
          </a:prstGeom>
          <a:solidFill>
            <a:srgbClr val="FFFFFF"/>
          </a:solidFill>
          <a:ln w="12700">
            <a:solidFill>
              <a:srgbClr val="86EFAC"/>
            </a:solidFill>
          </a:ln>
        </p:spPr>
        <p:txBody>
          <a:bodyPr wrap="square" lIns="0" tIns="0" rIns="0" bIns="0" rtlCol="0" anchor="ctr"/>
          <a:lstStyle/>
          <a:p>
            <a:pPr marL="0" indent="0">
              <a:buNone/>
            </a:pPr>
            <a:endParaRPr lang="en-US" dirty="0"/>
          </a:p>
        </p:txBody>
      </p:sp>
      <p:sp>
        <p:nvSpPr>
          <p:cNvPr id="12" name="Shape 10"/>
          <p:cNvSpPr/>
          <p:nvPr/>
        </p:nvSpPr>
        <p:spPr>
          <a:xfrm>
            <a:off x="6583680" y="1874520"/>
            <a:ext cx="73152" cy="1965960"/>
          </a:xfrm>
          <a:prstGeom prst="rect">
            <a:avLst/>
          </a:prstGeom>
          <a:solidFill>
            <a:srgbClr val="166534"/>
          </a:solidFill>
          <a:ln w="12700">
            <a:solidFill>
              <a:srgbClr val="166534">
                <a:alpha val="0"/>
              </a:srgbClr>
            </a:solidFill>
            <a:prstDash val="solid"/>
          </a:ln>
        </p:spPr>
      </p:sp>
      <p:sp>
        <p:nvSpPr>
          <p:cNvPr id="13" name="Text 11"/>
          <p:cNvSpPr/>
          <p:nvPr/>
        </p:nvSpPr>
        <p:spPr>
          <a:xfrm>
            <a:off x="6803136" y="2057400"/>
            <a:ext cx="4041648" cy="310896"/>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Aussage 2</a:t>
            </a:r>
            <a:endParaRPr lang="en-US" sz="1750" dirty="0"/>
          </a:p>
        </p:txBody>
      </p:sp>
      <p:sp>
        <p:nvSpPr>
          <p:cNvPr id="14" name="Text 12"/>
          <p:cNvSpPr/>
          <p:nvPr/>
        </p:nvSpPr>
        <p:spPr>
          <a:xfrm>
            <a:off x="6803136" y="2478024"/>
            <a:ext cx="4041648" cy="1197864"/>
          </a:xfrm>
          <a:prstGeom prst="rect">
            <a:avLst/>
          </a:prstGeom>
          <a:noFill/>
          <a:ln/>
        </p:spPr>
        <p:txBody>
          <a:bodyPr wrap="square" lIns="0" tIns="0" rIns="0" bIns="0" rtlCol="0" anchor="t">
            <a:normAutofit/>
          </a:bodyPr>
          <a:lstStyle/>
          <a:p>
            <a:pPr marL="0" indent="0">
              <a:buNone/>
            </a:pPr>
            <a:r>
              <a:rPr lang="en-US" sz="1660" dirty="0">
                <a:solidFill>
                  <a:srgbClr val="475569"/>
                </a:solidFill>
                <a:latin typeface="Aptos" pitchFamily="34" charset="0"/>
                <a:ea typeface="Aptos" pitchFamily="34" charset="-122"/>
                <a:cs typeface="Aptos" pitchFamily="34" charset="-120"/>
              </a:rPr>
              <a:t>„Im Login fehlt eine Fehlermeldung. Nutzer wissen nach falscher Eingabe nicht, was zu korrigieren ist.“</a:t>
            </a:r>
            <a:endParaRPr lang="en-US" sz="1660" dirty="0"/>
          </a:p>
          <a:p>
            <a:pPr marL="0" indent="0">
              <a:buNone/>
            </a:pPr>
            <a:endParaRPr lang="en-US" sz="1660" dirty="0"/>
          </a:p>
          <a:p>
            <a:pPr marL="0" indent="0">
              <a:buNone/>
            </a:pPr>
            <a:r>
              <a:rPr lang="en-US" sz="1660" dirty="0">
                <a:solidFill>
                  <a:srgbClr val="475569"/>
                </a:solidFill>
                <a:latin typeface="Aptos" pitchFamily="34" charset="0"/>
                <a:ea typeface="Aptos" pitchFamily="34" charset="-122"/>
                <a:cs typeface="Aptos" pitchFamily="34" charset="-120"/>
              </a:rPr>
              <a:t>→ Beobachtung: bewertbar.</a:t>
            </a:r>
            <a:endParaRPr lang="en-US" sz="1660" dirty="0"/>
          </a:p>
        </p:txBody>
      </p:sp>
      <p:sp>
        <p:nvSpPr>
          <p:cNvPr id="15" name="Text 13"/>
          <p:cNvSpPr/>
          <p:nvPr/>
        </p:nvSpPr>
        <p:spPr>
          <a:xfrm>
            <a:off x="1417320" y="4599432"/>
            <a:ext cx="1188720" cy="292608"/>
          </a:xfrm>
          <a:prstGeom prst="rect">
            <a:avLst/>
          </a:prstGeom>
          <a:noFill/>
          <a:ln/>
        </p:spPr>
        <p:txBody>
          <a:bodyPr wrap="square" lIns="0" tIns="0" rIns="0" bIns="0" rtlCol="0" anchor="ctr"/>
          <a:lstStyle/>
          <a:p>
            <a:pPr marL="0" indent="0">
              <a:buNone/>
            </a:pPr>
            <a:r>
              <a:rPr lang="en-US" sz="1500" b="1" dirty="0">
                <a:solidFill>
                  <a:srgbClr val="0F766E"/>
                </a:solidFill>
                <a:latin typeface="Aptos" pitchFamily="34" charset="0"/>
                <a:ea typeface="Aptos" pitchFamily="34" charset="-122"/>
                <a:cs typeface="Aptos" pitchFamily="34" charset="-120"/>
              </a:rPr>
              <a:t>Merksatz</a:t>
            </a:r>
            <a:endParaRPr lang="en-US" sz="1500" dirty="0"/>
          </a:p>
        </p:txBody>
      </p:sp>
      <p:sp>
        <p:nvSpPr>
          <p:cNvPr id="16" name="Text 14"/>
          <p:cNvSpPr/>
          <p:nvPr/>
        </p:nvSpPr>
        <p:spPr>
          <a:xfrm>
            <a:off x="1417320" y="4919472"/>
            <a:ext cx="9601200" cy="475488"/>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Eine gute Usability-Bewertung nennt Beobachtung, Ort, Regel, Auswirkung und einen konkreten Fix.</a:t>
            </a:r>
            <a:endParaRPr lang="en-US" sz="2400" dirty="0"/>
          </a:p>
        </p:txBody>
      </p:sp>
      <p:sp>
        <p:nvSpPr>
          <p:cNvPr id="17" name="Text 15"/>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18" name="Text 16"/>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02</a:t>
            </a:r>
            <a:endParaRPr lang="en-US" sz="850" dirty="0"/>
          </a:p>
        </p:txBody>
      </p:sp>
      <p:sp>
        <p:nvSpPr>
          <p:cNvPr id="19" name="Text 17"/>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Arbeitsblatt-Bezug: sachlich &amp; nachvollziehbar</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ORIENTIERUNG</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Das Zielprodukt: 1‑seitiger Usability‑Bericht</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566928" y="1408176"/>
            <a:ext cx="3749040" cy="310896"/>
          </a:xfrm>
          <a:prstGeom prst="rect">
            <a:avLst/>
          </a:prstGeom>
          <a:noFill/>
          <a:ln/>
        </p:spPr>
        <p:txBody>
          <a:bodyPr wrap="square" lIns="0" tIns="0" rIns="0" bIns="0" rtlCol="0" anchor="ctr"/>
          <a:lstStyle/>
          <a:p>
            <a:pPr marL="0" indent="0">
              <a:buNone/>
            </a:pPr>
            <a:r>
              <a:rPr lang="en-US" sz="1800" b="1" dirty="0">
                <a:solidFill>
                  <a:srgbClr val="475569"/>
                </a:solidFill>
                <a:latin typeface="Aptos" pitchFamily="34" charset="0"/>
                <a:ea typeface="Aptos" pitchFamily="34" charset="-122"/>
                <a:cs typeface="Aptos" pitchFamily="34" charset="-120"/>
              </a:rPr>
              <a:t>Am Ende gebt ihr ab:</a:t>
            </a:r>
            <a:endParaRPr lang="en-US" sz="1800" dirty="0"/>
          </a:p>
        </p:txBody>
      </p:sp>
      <p:sp>
        <p:nvSpPr>
          <p:cNvPr id="6" name="Text 4"/>
          <p:cNvSpPr/>
          <p:nvPr/>
        </p:nvSpPr>
        <p:spPr>
          <a:xfrm>
            <a:off x="685800" y="1847088"/>
            <a:ext cx="2743200" cy="265176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7" name="Shape 5"/>
          <p:cNvSpPr/>
          <p:nvPr/>
        </p:nvSpPr>
        <p:spPr>
          <a:xfrm>
            <a:off x="685800" y="1847088"/>
            <a:ext cx="73152" cy="2651760"/>
          </a:xfrm>
          <a:prstGeom prst="rect">
            <a:avLst/>
          </a:prstGeom>
          <a:solidFill>
            <a:srgbClr val="0F766E"/>
          </a:solidFill>
          <a:ln w="12700">
            <a:solidFill>
              <a:srgbClr val="0F766E">
                <a:alpha val="0"/>
              </a:srgbClr>
            </a:solidFill>
            <a:prstDash val="solid"/>
          </a:ln>
        </p:spPr>
      </p:sp>
      <p:sp>
        <p:nvSpPr>
          <p:cNvPr id="8" name="Text 6"/>
          <p:cNvSpPr/>
          <p:nvPr/>
        </p:nvSpPr>
        <p:spPr>
          <a:xfrm>
            <a:off x="905256" y="2029968"/>
            <a:ext cx="230428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Bericht</a:t>
            </a:r>
            <a:endParaRPr lang="en-US" sz="2000" dirty="0"/>
          </a:p>
        </p:txBody>
      </p:sp>
      <p:sp>
        <p:nvSpPr>
          <p:cNvPr id="9" name="Text 7"/>
          <p:cNvSpPr/>
          <p:nvPr/>
        </p:nvSpPr>
        <p:spPr>
          <a:xfrm>
            <a:off x="905256" y="2450592"/>
            <a:ext cx="2304288" cy="188366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maximal 1 A4-Seite</a:t>
            </a:r>
            <a:endParaRPr lang="en-US" sz="1800" dirty="0"/>
          </a:p>
          <a:p>
            <a:pPr marL="0" indent="0">
              <a:buNone/>
            </a:pPr>
            <a:r>
              <a:rPr lang="en-US" sz="1800" dirty="0">
                <a:solidFill>
                  <a:srgbClr val="475569"/>
                </a:solidFill>
                <a:latin typeface="Aptos" pitchFamily="34" charset="0"/>
                <a:ea typeface="Aptos" pitchFamily="34" charset="-122"/>
                <a:cs typeface="Aptos" pitchFamily="34" charset="-120"/>
              </a:rPr>
              <a:t>Einleitung · Methode · Ergebnisse · Fazit</a:t>
            </a:r>
            <a:endParaRPr lang="en-US" sz="1800" dirty="0"/>
          </a:p>
        </p:txBody>
      </p:sp>
      <p:sp>
        <p:nvSpPr>
          <p:cNvPr id="10" name="Text 8"/>
          <p:cNvSpPr/>
          <p:nvPr/>
        </p:nvSpPr>
        <p:spPr>
          <a:xfrm>
            <a:off x="3794760" y="1847088"/>
            <a:ext cx="2743200" cy="265176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1" name="Shape 9"/>
          <p:cNvSpPr/>
          <p:nvPr/>
        </p:nvSpPr>
        <p:spPr>
          <a:xfrm>
            <a:off x="3794760" y="1847088"/>
            <a:ext cx="73152" cy="2651760"/>
          </a:xfrm>
          <a:prstGeom prst="rect">
            <a:avLst/>
          </a:prstGeom>
          <a:solidFill>
            <a:srgbClr val="2563EB"/>
          </a:solidFill>
          <a:ln w="12700">
            <a:solidFill>
              <a:srgbClr val="2563EB">
                <a:alpha val="0"/>
              </a:srgbClr>
            </a:solidFill>
            <a:prstDash val="solid"/>
          </a:ln>
        </p:spPr>
      </p:sp>
      <p:sp>
        <p:nvSpPr>
          <p:cNvPr id="12" name="Text 10"/>
          <p:cNvSpPr/>
          <p:nvPr/>
        </p:nvSpPr>
        <p:spPr>
          <a:xfrm>
            <a:off x="4014216" y="2029968"/>
            <a:ext cx="230428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Belege</a:t>
            </a:r>
            <a:endParaRPr lang="en-US" sz="2000" dirty="0"/>
          </a:p>
        </p:txBody>
      </p:sp>
      <p:sp>
        <p:nvSpPr>
          <p:cNvPr id="13" name="Text 11"/>
          <p:cNvSpPr/>
          <p:nvPr/>
        </p:nvSpPr>
        <p:spPr>
          <a:xfrm>
            <a:off x="4014216" y="2450592"/>
            <a:ext cx="2304288" cy="188366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mindestens ein visueller Beleg</a:t>
            </a:r>
            <a:endParaRPr lang="en-US" sz="1800" dirty="0"/>
          </a:p>
          <a:p>
            <a:pPr marL="0" indent="0">
              <a:buNone/>
            </a:pPr>
            <a:r>
              <a:rPr lang="en-US" sz="1800" dirty="0">
                <a:solidFill>
                  <a:srgbClr val="475569"/>
                </a:solidFill>
                <a:latin typeface="Aptos" pitchFamily="34" charset="0"/>
                <a:ea typeface="Aptos" pitchFamily="34" charset="-122"/>
                <a:cs typeface="Aptos" pitchFamily="34" charset="-120"/>
              </a:rPr>
              <a:t>z. B. Screenshot, Skizze oder Tabelle</a:t>
            </a:r>
            <a:endParaRPr lang="en-US" sz="1800" dirty="0"/>
          </a:p>
        </p:txBody>
      </p:sp>
      <p:sp>
        <p:nvSpPr>
          <p:cNvPr id="14" name="Text 12"/>
          <p:cNvSpPr/>
          <p:nvPr/>
        </p:nvSpPr>
        <p:spPr>
          <a:xfrm>
            <a:off x="6903720" y="1847088"/>
            <a:ext cx="2743200" cy="265176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5" name="Shape 13"/>
          <p:cNvSpPr/>
          <p:nvPr/>
        </p:nvSpPr>
        <p:spPr>
          <a:xfrm>
            <a:off x="6903720" y="1847088"/>
            <a:ext cx="73152" cy="2651760"/>
          </a:xfrm>
          <a:prstGeom prst="rect">
            <a:avLst/>
          </a:prstGeom>
          <a:solidFill>
            <a:srgbClr val="F59E0B"/>
          </a:solidFill>
          <a:ln w="12700">
            <a:solidFill>
              <a:srgbClr val="F59E0B">
                <a:alpha val="0"/>
              </a:srgbClr>
            </a:solidFill>
            <a:prstDash val="solid"/>
          </a:ln>
        </p:spPr>
      </p:sp>
      <p:sp>
        <p:nvSpPr>
          <p:cNvPr id="16" name="Text 14"/>
          <p:cNvSpPr/>
          <p:nvPr/>
        </p:nvSpPr>
        <p:spPr>
          <a:xfrm>
            <a:off x="7123176" y="2029968"/>
            <a:ext cx="230428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Top‑5</a:t>
            </a:r>
            <a:endParaRPr lang="en-US" sz="2000" dirty="0"/>
          </a:p>
        </p:txBody>
      </p:sp>
      <p:sp>
        <p:nvSpPr>
          <p:cNvPr id="17" name="Text 15"/>
          <p:cNvSpPr/>
          <p:nvPr/>
        </p:nvSpPr>
        <p:spPr>
          <a:xfrm>
            <a:off x="7123176" y="2450592"/>
            <a:ext cx="2304288" cy="188366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Probleme priorisieren</a:t>
            </a:r>
            <a:endParaRPr lang="en-US" sz="1800" dirty="0"/>
          </a:p>
          <a:p>
            <a:pPr marL="0" indent="0">
              <a:buNone/>
            </a:pPr>
            <a:r>
              <a:rPr lang="en-US" sz="1800" dirty="0">
                <a:solidFill>
                  <a:srgbClr val="475569"/>
                </a:solidFill>
                <a:latin typeface="Aptos" pitchFamily="34" charset="0"/>
                <a:ea typeface="Aptos" pitchFamily="34" charset="-122"/>
                <a:cs typeface="Aptos" pitchFamily="34" charset="-120"/>
              </a:rPr>
              <a:t>Auswirkung + konkrete Verbesserung</a:t>
            </a:r>
            <a:endParaRPr lang="en-US" sz="1800" dirty="0"/>
          </a:p>
        </p:txBody>
      </p:sp>
      <p:sp>
        <p:nvSpPr>
          <p:cNvPr id="18" name="Text 16"/>
          <p:cNvSpPr/>
          <p:nvPr/>
        </p:nvSpPr>
        <p:spPr>
          <a:xfrm>
            <a:off x="9921240" y="1847088"/>
            <a:ext cx="1463040" cy="265176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9" name="Shape 17"/>
          <p:cNvSpPr/>
          <p:nvPr/>
        </p:nvSpPr>
        <p:spPr>
          <a:xfrm>
            <a:off x="9921240" y="1847088"/>
            <a:ext cx="73152" cy="2651760"/>
          </a:xfrm>
          <a:prstGeom prst="rect">
            <a:avLst/>
          </a:prstGeom>
          <a:solidFill>
            <a:srgbClr val="6D28D9"/>
          </a:solidFill>
          <a:ln w="12700">
            <a:solidFill>
              <a:srgbClr val="6D28D9">
                <a:alpha val="0"/>
              </a:srgbClr>
            </a:solidFill>
            <a:prstDash val="solid"/>
          </a:ln>
        </p:spPr>
      </p:sp>
      <p:sp>
        <p:nvSpPr>
          <p:cNvPr id="20" name="Text 18"/>
          <p:cNvSpPr/>
          <p:nvPr/>
        </p:nvSpPr>
        <p:spPr>
          <a:xfrm>
            <a:off x="10140696" y="2029968"/>
            <a:ext cx="1024128" cy="310896"/>
          </a:xfrm>
          <a:prstGeom prst="rect">
            <a:avLst/>
          </a:prstGeom>
          <a:noFill/>
          <a:ln/>
        </p:spPr>
        <p:txBody>
          <a:bodyPr wrap="square" lIns="0" tIns="0" rIns="0" bIns="0" rtlCol="0" anchor="ctr"/>
          <a:lstStyle/>
          <a:p>
            <a:pPr marL="0" indent="0">
              <a:buNone/>
            </a:pPr>
            <a:r>
              <a:rPr lang="en-US" sz="1700" b="1" dirty="0">
                <a:solidFill>
                  <a:srgbClr val="111827"/>
                </a:solidFill>
                <a:latin typeface="Aptos" pitchFamily="34" charset="0"/>
                <a:ea typeface="Aptos" pitchFamily="34" charset="-122"/>
                <a:cs typeface="Aptos" pitchFamily="34" charset="-120"/>
              </a:rPr>
              <a:t>Abgabe</a:t>
            </a:r>
            <a:endParaRPr lang="en-US" sz="1700" dirty="0"/>
          </a:p>
        </p:txBody>
      </p:sp>
      <p:sp>
        <p:nvSpPr>
          <p:cNvPr id="21" name="Text 19"/>
          <p:cNvSpPr/>
          <p:nvPr/>
        </p:nvSpPr>
        <p:spPr>
          <a:xfrm>
            <a:off x="10140696" y="2450592"/>
            <a:ext cx="1024128" cy="1883664"/>
          </a:xfrm>
          <a:prstGeom prst="rect">
            <a:avLst/>
          </a:prstGeom>
          <a:noFill/>
          <a:ln/>
        </p:spPr>
        <p:txBody>
          <a:bodyPr wrap="square" lIns="0" tIns="0" rIns="0" bIns="0" rtlCol="0" anchor="t">
            <a:normAutofit/>
          </a:bodyPr>
          <a:lstStyle/>
          <a:p>
            <a:pPr marL="0" indent="0">
              <a:buNone/>
            </a:pPr>
            <a:r>
              <a:rPr lang="en-US" sz="1550" dirty="0">
                <a:solidFill>
                  <a:srgbClr val="475569"/>
                </a:solidFill>
                <a:latin typeface="Aptos" pitchFamily="34" charset="0"/>
                <a:ea typeface="Aptos" pitchFamily="34" charset="-122"/>
                <a:cs typeface="Aptos" pitchFamily="34" charset="-120"/>
              </a:rPr>
              <a:t>Teams</a:t>
            </a:r>
            <a:endParaRPr lang="en-US" sz="1550" dirty="0"/>
          </a:p>
          <a:p>
            <a:pPr marL="0" indent="0">
              <a:buNone/>
            </a:pPr>
            <a:r>
              <a:rPr lang="en-US" sz="1550" dirty="0">
                <a:solidFill>
                  <a:srgbClr val="475569"/>
                </a:solidFill>
                <a:latin typeface="Aptos" pitchFamily="34" charset="0"/>
                <a:ea typeface="Aptos" pitchFamily="34" charset="-122"/>
                <a:cs typeface="Aptos" pitchFamily="34" charset="-120"/>
              </a:rPr>
              <a:t>Dateiname mit Namen</a:t>
            </a:r>
            <a:endParaRPr lang="en-US" sz="1550" dirty="0"/>
          </a:p>
        </p:txBody>
      </p:sp>
      <p:sp>
        <p:nvSpPr>
          <p:cNvPr id="22" name="Text 20"/>
          <p:cNvSpPr/>
          <p:nvPr/>
        </p:nvSpPr>
        <p:spPr>
          <a:xfrm>
            <a:off x="1005840" y="5038344"/>
            <a:ext cx="347472" cy="548640"/>
          </a:xfrm>
          <a:prstGeom prst="rect">
            <a:avLst/>
          </a:prstGeom>
          <a:noFill/>
          <a:ln/>
        </p:spPr>
        <p:txBody>
          <a:bodyPr wrap="square" lIns="0" tIns="0" rIns="0" bIns="0" rtlCol="0" anchor="ctr"/>
          <a:lstStyle/>
          <a:p>
            <a:pPr marL="0" indent="0">
              <a:buNone/>
            </a:pPr>
            <a:r>
              <a:rPr lang="en-US" sz="4000" dirty="0">
                <a:solidFill>
                  <a:srgbClr val="0F766E"/>
                </a:solidFill>
                <a:latin typeface="Georgia" pitchFamily="34" charset="0"/>
                <a:ea typeface="Georgia" pitchFamily="34" charset="-122"/>
                <a:cs typeface="Georgia" pitchFamily="34" charset="-120"/>
              </a:rPr>
              <a:t>„</a:t>
            </a:r>
            <a:endParaRPr lang="en-US" sz="4000" dirty="0"/>
          </a:p>
        </p:txBody>
      </p:sp>
      <p:sp>
        <p:nvSpPr>
          <p:cNvPr id="23" name="Text 21"/>
          <p:cNvSpPr/>
          <p:nvPr/>
        </p:nvSpPr>
        <p:spPr>
          <a:xfrm>
            <a:off x="1426464" y="5074920"/>
            <a:ext cx="9637776" cy="512064"/>
          </a:xfrm>
          <a:prstGeom prst="rect">
            <a:avLst/>
          </a:prstGeom>
          <a:noFill/>
          <a:ln/>
        </p:spPr>
        <p:txBody>
          <a:bodyPr wrap="square" lIns="0" tIns="0" rIns="0" bIns="0" rtlCol="0" anchor="ctr">
            <a:normAutofit/>
          </a:bodyPr>
          <a:lstStyle/>
          <a:p>
            <a:pPr marL="0" indent="0">
              <a:buNone/>
            </a:pPr>
            <a:r>
              <a:rPr lang="en-US" sz="2200" i="1" dirty="0">
                <a:solidFill>
                  <a:srgbClr val="111827"/>
                </a:solidFill>
                <a:latin typeface="Aptos" pitchFamily="34" charset="0"/>
                <a:ea typeface="Aptos" pitchFamily="34" charset="-122"/>
                <a:cs typeface="Aptos" pitchFamily="34" charset="-120"/>
              </a:rPr>
              <a:t>Nicht alles beschreiben – das Wichtigste nachvollziehbar belegen.</a:t>
            </a:r>
            <a:endParaRPr lang="en-US" sz="2200" dirty="0"/>
          </a:p>
        </p:txBody>
      </p:sp>
      <p:sp>
        <p:nvSpPr>
          <p:cNvPr id="24" name="Text 22"/>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5" name="Text 23"/>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03</a:t>
            </a:r>
            <a:endParaRPr lang="en-US" sz="850" dirty="0"/>
          </a:p>
        </p:txBody>
      </p:sp>
      <p:sp>
        <p:nvSpPr>
          <p:cNvPr id="26" name="Text 24"/>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 Berichtsvorlage + Rubrik</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ABLAUF</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Roadmap Woche 10–12</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Shape 3"/>
          <p:cNvSpPr/>
          <p:nvPr/>
        </p:nvSpPr>
        <p:spPr>
          <a:xfrm>
            <a:off x="1280160" y="2907792"/>
            <a:ext cx="9875520" cy="0"/>
          </a:xfrm>
          <a:prstGeom prst="line">
            <a:avLst/>
          </a:prstGeom>
          <a:noFill/>
          <a:ln w="38100">
            <a:solidFill>
              <a:srgbClr val="CBD5E1"/>
            </a:solidFill>
            <a:prstDash val="solid"/>
          </a:ln>
        </p:spPr>
      </p:sp>
      <p:sp>
        <p:nvSpPr>
          <p:cNvPr id="6" name="Text 4"/>
          <p:cNvSpPr/>
          <p:nvPr/>
        </p:nvSpPr>
        <p:spPr>
          <a:xfrm>
            <a:off x="1097280" y="2624328"/>
            <a:ext cx="566928" cy="566928"/>
          </a:xfrm>
          <a:prstGeom prst="rect">
            <a:avLst/>
          </a:prstGeom>
          <a:solidFill>
            <a:srgbClr val="0F766E"/>
          </a:solidFill>
          <a:ln>
            <a:solidFill>
              <a:srgbClr val="0F766E">
                <a:alpha val="0"/>
              </a:srgbClr>
            </a:solid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7" name="Text 5"/>
          <p:cNvSpPr/>
          <p:nvPr/>
        </p:nvSpPr>
        <p:spPr>
          <a:xfrm>
            <a:off x="914400" y="1627632"/>
            <a:ext cx="2834640" cy="347472"/>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Woche 10</a:t>
            </a:r>
            <a:endParaRPr lang="en-US" sz="2500" dirty="0"/>
          </a:p>
        </p:txBody>
      </p:sp>
      <p:sp>
        <p:nvSpPr>
          <p:cNvPr id="8" name="Text 6"/>
          <p:cNvSpPr/>
          <p:nvPr/>
        </p:nvSpPr>
        <p:spPr>
          <a:xfrm>
            <a:off x="914400" y="2029968"/>
            <a:ext cx="2926080" cy="274320"/>
          </a:xfrm>
          <a:prstGeom prst="rect">
            <a:avLst/>
          </a:prstGeom>
          <a:noFill/>
          <a:ln/>
        </p:spPr>
        <p:txBody>
          <a:bodyPr wrap="square" lIns="0" tIns="0" rIns="0" bIns="0" rtlCol="0" anchor="ctr"/>
          <a:lstStyle/>
          <a:p>
            <a:pPr marL="0" indent="0">
              <a:buNone/>
            </a:pPr>
            <a:r>
              <a:rPr lang="en-US" sz="1550" b="1" dirty="0">
                <a:solidFill>
                  <a:srgbClr val="0F766E"/>
                </a:solidFill>
                <a:latin typeface="Aptos" pitchFamily="34" charset="0"/>
                <a:ea typeface="Aptos" pitchFamily="34" charset="-122"/>
                <a:cs typeface="Aptos" pitchFamily="34" charset="-120"/>
              </a:rPr>
              <a:t>Informieren · Planen · Entscheiden</a:t>
            </a:r>
            <a:endParaRPr lang="en-US" sz="1550" dirty="0"/>
          </a:p>
        </p:txBody>
      </p:sp>
      <p:sp>
        <p:nvSpPr>
          <p:cNvPr id="9" name="Text 7"/>
          <p:cNvSpPr/>
          <p:nvPr/>
        </p:nvSpPr>
        <p:spPr>
          <a:xfrm>
            <a:off x="932688" y="3566160"/>
            <a:ext cx="2926080" cy="749808"/>
          </a:xfrm>
          <a:prstGeom prst="rect">
            <a:avLst/>
          </a:prstGeom>
          <a:noFill/>
          <a:ln/>
        </p:spPr>
        <p:txBody>
          <a:bodyPr wrap="square" lIns="0" tIns="0" rIns="0" bIns="0" rtlCol="0" anchor="ctr">
            <a:normAutofit/>
          </a:bodyPr>
          <a:lstStyle/>
          <a:p>
            <a:pPr marL="0" indent="0">
              <a:buNone/>
            </a:pPr>
            <a:r>
              <a:rPr lang="en-US" sz="1800" dirty="0">
                <a:solidFill>
                  <a:srgbClr val="475569"/>
                </a:solidFill>
                <a:latin typeface="Aptos" pitchFamily="34" charset="0"/>
                <a:ea typeface="Aptos" pitchFamily="34" charset="-122"/>
                <a:cs typeface="Aptos" pitchFamily="34" charset="-120"/>
              </a:rPr>
              <a:t>Evaluationsplan</a:t>
            </a:r>
            <a:endParaRPr lang="en-US" sz="1800" dirty="0"/>
          </a:p>
          <a:p>
            <a:pPr marL="0" indent="0">
              <a:buNone/>
            </a:pPr>
            <a:r>
              <a:rPr lang="en-US" sz="1800" dirty="0">
                <a:solidFill>
                  <a:srgbClr val="475569"/>
                </a:solidFill>
                <a:latin typeface="Aptos" pitchFamily="34" charset="0"/>
                <a:ea typeface="Aptos" pitchFamily="34" charset="-122"/>
                <a:cs typeface="Aptos" pitchFamily="34" charset="-120"/>
              </a:rPr>
              <a:t>+ 2 Beispiel-Findings</a:t>
            </a:r>
            <a:endParaRPr lang="en-US" sz="1800" dirty="0"/>
          </a:p>
        </p:txBody>
      </p:sp>
      <p:sp>
        <p:nvSpPr>
          <p:cNvPr id="10" name="Text 8"/>
          <p:cNvSpPr/>
          <p:nvPr/>
        </p:nvSpPr>
        <p:spPr>
          <a:xfrm>
            <a:off x="4709160" y="2624328"/>
            <a:ext cx="566928" cy="566928"/>
          </a:xfrm>
          <a:prstGeom prst="rect">
            <a:avLst/>
          </a:prstGeom>
          <a:solidFill>
            <a:srgbClr val="2563EB"/>
          </a:solidFill>
          <a:ln>
            <a:solidFill>
              <a:srgbClr val="2563EB">
                <a:alpha val="0"/>
              </a:srgbClr>
            </a:solid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1" name="Text 9"/>
          <p:cNvSpPr/>
          <p:nvPr/>
        </p:nvSpPr>
        <p:spPr>
          <a:xfrm>
            <a:off x="4526280" y="1627632"/>
            <a:ext cx="2834640" cy="347472"/>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Woche 11</a:t>
            </a:r>
            <a:endParaRPr lang="en-US" sz="2500" dirty="0"/>
          </a:p>
        </p:txBody>
      </p:sp>
      <p:sp>
        <p:nvSpPr>
          <p:cNvPr id="12" name="Text 10"/>
          <p:cNvSpPr/>
          <p:nvPr/>
        </p:nvSpPr>
        <p:spPr>
          <a:xfrm>
            <a:off x="4526280" y="2029968"/>
            <a:ext cx="2926080" cy="274320"/>
          </a:xfrm>
          <a:prstGeom prst="rect">
            <a:avLst/>
          </a:prstGeom>
          <a:noFill/>
          <a:ln/>
        </p:spPr>
        <p:txBody>
          <a:bodyPr wrap="square" lIns="0" tIns="0" rIns="0" bIns="0" rtlCol="0" anchor="ctr"/>
          <a:lstStyle/>
          <a:p>
            <a:pPr marL="0" indent="0">
              <a:buNone/>
            </a:pPr>
            <a:r>
              <a:rPr lang="en-US" sz="1550" b="1" dirty="0">
                <a:solidFill>
                  <a:srgbClr val="2563EB"/>
                </a:solidFill>
                <a:latin typeface="Aptos" pitchFamily="34" charset="0"/>
                <a:ea typeface="Aptos" pitchFamily="34" charset="-122"/>
                <a:cs typeface="Aptos" pitchFamily="34" charset="-120"/>
              </a:rPr>
              <a:t>Ausführen · Kontrollieren</a:t>
            </a:r>
            <a:endParaRPr lang="en-US" sz="1550" dirty="0"/>
          </a:p>
        </p:txBody>
      </p:sp>
      <p:sp>
        <p:nvSpPr>
          <p:cNvPr id="13" name="Text 11"/>
          <p:cNvSpPr/>
          <p:nvPr/>
        </p:nvSpPr>
        <p:spPr>
          <a:xfrm>
            <a:off x="4544568" y="3566160"/>
            <a:ext cx="2926080" cy="749808"/>
          </a:xfrm>
          <a:prstGeom prst="rect">
            <a:avLst/>
          </a:prstGeom>
          <a:noFill/>
          <a:ln/>
        </p:spPr>
        <p:txBody>
          <a:bodyPr wrap="square" lIns="0" tIns="0" rIns="0" bIns="0" rtlCol="0" anchor="ctr">
            <a:normAutofit/>
          </a:bodyPr>
          <a:lstStyle/>
          <a:p>
            <a:pPr marL="0" indent="0">
              <a:buNone/>
            </a:pPr>
            <a:r>
              <a:rPr lang="en-US" sz="1800" dirty="0">
                <a:solidFill>
                  <a:srgbClr val="475569"/>
                </a:solidFill>
                <a:latin typeface="Aptos" pitchFamily="34" charset="0"/>
                <a:ea typeface="Aptos" pitchFamily="34" charset="-122"/>
                <a:cs typeface="Aptos" pitchFamily="34" charset="-120"/>
              </a:rPr>
              <a:t>Issue Log</a:t>
            </a:r>
            <a:endParaRPr lang="en-US" sz="1800" dirty="0"/>
          </a:p>
          <a:p>
            <a:pPr marL="0" indent="0">
              <a:buNone/>
            </a:pPr>
            <a:r>
              <a:rPr lang="en-US" sz="1800" dirty="0">
                <a:solidFill>
                  <a:srgbClr val="475569"/>
                </a:solidFill>
                <a:latin typeface="Aptos" pitchFamily="34" charset="0"/>
                <a:ea typeface="Aptos" pitchFamily="34" charset="-122"/>
                <a:cs typeface="Aptos" pitchFamily="34" charset="-120"/>
              </a:rPr>
              <a:t>+ Top‑5 Findings</a:t>
            </a:r>
            <a:endParaRPr lang="en-US" sz="1800" dirty="0"/>
          </a:p>
        </p:txBody>
      </p:sp>
      <p:sp>
        <p:nvSpPr>
          <p:cNvPr id="14" name="Text 12"/>
          <p:cNvSpPr/>
          <p:nvPr/>
        </p:nvSpPr>
        <p:spPr>
          <a:xfrm>
            <a:off x="8321040" y="2624328"/>
            <a:ext cx="566928" cy="566928"/>
          </a:xfrm>
          <a:prstGeom prst="rect">
            <a:avLst/>
          </a:prstGeom>
          <a:solidFill>
            <a:srgbClr val="F59E0B"/>
          </a:solidFill>
          <a:ln>
            <a:solidFill>
              <a:srgbClr val="F59E0B">
                <a:alpha val="0"/>
              </a:srgbClr>
            </a:solid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15" name="Text 13"/>
          <p:cNvSpPr/>
          <p:nvPr/>
        </p:nvSpPr>
        <p:spPr>
          <a:xfrm>
            <a:off x="8138160" y="1627632"/>
            <a:ext cx="2834640" cy="347472"/>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Woche 12</a:t>
            </a:r>
            <a:endParaRPr lang="en-US" sz="2500" dirty="0"/>
          </a:p>
        </p:txBody>
      </p:sp>
      <p:sp>
        <p:nvSpPr>
          <p:cNvPr id="16" name="Text 14"/>
          <p:cNvSpPr/>
          <p:nvPr/>
        </p:nvSpPr>
        <p:spPr>
          <a:xfrm>
            <a:off x="8138160" y="2029968"/>
            <a:ext cx="2926080" cy="274320"/>
          </a:xfrm>
          <a:prstGeom prst="rect">
            <a:avLst/>
          </a:prstGeom>
          <a:noFill/>
          <a:ln/>
        </p:spPr>
        <p:txBody>
          <a:bodyPr wrap="square" lIns="0" tIns="0" rIns="0" bIns="0" rtlCol="0" anchor="ctr"/>
          <a:lstStyle/>
          <a:p>
            <a:pPr marL="0" indent="0">
              <a:buNone/>
            </a:pPr>
            <a:r>
              <a:rPr lang="en-US" sz="1550" b="1" dirty="0">
                <a:solidFill>
                  <a:srgbClr val="F59E0B"/>
                </a:solidFill>
                <a:latin typeface="Aptos" pitchFamily="34" charset="0"/>
                <a:ea typeface="Aptos" pitchFamily="34" charset="-122"/>
                <a:cs typeface="Aptos" pitchFamily="34" charset="-120"/>
              </a:rPr>
              <a:t>Bewerten</a:t>
            </a:r>
            <a:endParaRPr lang="en-US" sz="1550" dirty="0"/>
          </a:p>
        </p:txBody>
      </p:sp>
      <p:sp>
        <p:nvSpPr>
          <p:cNvPr id="17" name="Text 15"/>
          <p:cNvSpPr/>
          <p:nvPr/>
        </p:nvSpPr>
        <p:spPr>
          <a:xfrm>
            <a:off x="8156448" y="3566160"/>
            <a:ext cx="2926080" cy="749808"/>
          </a:xfrm>
          <a:prstGeom prst="rect">
            <a:avLst/>
          </a:prstGeom>
          <a:noFill/>
          <a:ln/>
        </p:spPr>
        <p:txBody>
          <a:bodyPr wrap="square" lIns="0" tIns="0" rIns="0" bIns="0" rtlCol="0" anchor="ctr">
            <a:normAutofit/>
          </a:bodyPr>
          <a:lstStyle/>
          <a:p>
            <a:pPr marL="0" indent="0">
              <a:buNone/>
            </a:pPr>
            <a:r>
              <a:rPr lang="en-US" sz="1800" dirty="0">
                <a:solidFill>
                  <a:srgbClr val="475569"/>
                </a:solidFill>
                <a:latin typeface="Aptos" pitchFamily="34" charset="0"/>
                <a:ea typeface="Aptos" pitchFamily="34" charset="-122"/>
                <a:cs typeface="Aptos" pitchFamily="34" charset="-120"/>
              </a:rPr>
              <a:t>1 A4 Bericht</a:t>
            </a:r>
            <a:endParaRPr lang="en-US" sz="1800" dirty="0"/>
          </a:p>
          <a:p>
            <a:pPr marL="0" indent="0">
              <a:buNone/>
            </a:pPr>
            <a:r>
              <a:rPr lang="en-US" sz="1800" dirty="0">
                <a:solidFill>
                  <a:srgbClr val="475569"/>
                </a:solidFill>
                <a:latin typeface="Aptos" pitchFamily="34" charset="0"/>
                <a:ea typeface="Aptos" pitchFamily="34" charset="-122"/>
                <a:cs typeface="Aptos" pitchFamily="34" charset="-120"/>
              </a:rPr>
              <a:t>+ Beleg</a:t>
            </a:r>
            <a:endParaRPr lang="en-US" sz="1800" dirty="0"/>
          </a:p>
        </p:txBody>
      </p:sp>
      <p:sp>
        <p:nvSpPr>
          <p:cNvPr id="18" name="Text 16"/>
          <p:cNvSpPr/>
          <p:nvPr/>
        </p:nvSpPr>
        <p:spPr>
          <a:xfrm>
            <a:off x="1051560" y="5120640"/>
            <a:ext cx="9875520" cy="365760"/>
          </a:xfrm>
          <a:prstGeom prst="rect">
            <a:avLst/>
          </a:prstGeom>
          <a:noFill/>
          <a:ln/>
        </p:spPr>
        <p:txBody>
          <a:bodyPr wrap="square" lIns="0" tIns="0" rIns="0" bIns="0" rtlCol="0" anchor="ctr"/>
          <a:lstStyle/>
          <a:p>
            <a:pPr marL="0" indent="0" algn="ctr">
              <a:buNone/>
            </a:pPr>
            <a:r>
              <a:rPr lang="en-US" sz="2200" b="1" dirty="0">
                <a:solidFill>
                  <a:srgbClr val="111827"/>
                </a:solidFill>
                <a:latin typeface="Aptos" pitchFamily="34" charset="0"/>
                <a:ea typeface="Aptos" pitchFamily="34" charset="-122"/>
                <a:cs typeface="Aptos" pitchFamily="34" charset="-120"/>
              </a:rPr>
              <a:t>Die drei Wochen bauen aufeinander auf: planen → prüfen → verdichten.</a:t>
            </a:r>
            <a:endParaRPr lang="en-US" sz="2200" dirty="0"/>
          </a:p>
        </p:txBody>
      </p:sp>
      <p:sp>
        <p:nvSpPr>
          <p:cNvPr id="19" name="Text 17"/>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0" name="Text 18"/>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04</a:t>
            </a:r>
            <a:endParaRPr lang="en-US" sz="850" dirty="0"/>
          </a:p>
        </p:txBody>
      </p:sp>
      <p:sp>
        <p:nvSpPr>
          <p:cNvPr id="21" name="Text 19"/>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Quelle: Überblick Woche 10–12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ZIELE</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Lernziele der Sequenz</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60120" y="1417320"/>
            <a:ext cx="438912" cy="438912"/>
          </a:xfrm>
          <a:prstGeom prst="rect">
            <a:avLst/>
          </a:prstGeom>
          <a:solidFill>
            <a:srgbClr val="0F766E"/>
          </a:solidFill>
          <a:ln>
            <a:solidFill>
              <a:srgbClr val="0F766E">
                <a:alpha val="0"/>
              </a:srgbClr>
            </a:solid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6" name="Text 4"/>
          <p:cNvSpPr/>
          <p:nvPr/>
        </p:nvSpPr>
        <p:spPr>
          <a:xfrm>
            <a:off x="1563624" y="1417320"/>
            <a:ext cx="9637776" cy="237744"/>
          </a:xfrm>
          <a:prstGeom prst="rect">
            <a:avLst/>
          </a:prstGeom>
          <a:noFill/>
          <a:ln/>
        </p:spPr>
        <p:txBody>
          <a:bodyPr wrap="square" lIns="0" tIns="0" rIns="0" bIns="0" rtlCol="0" anchor="ctr"/>
          <a:lstStyle/>
          <a:p>
            <a:pPr marL="0" indent="0">
              <a:buNone/>
            </a:pPr>
            <a:r>
              <a:rPr lang="en-US" sz="1700" b="1" dirty="0">
                <a:solidFill>
                  <a:srgbClr val="111827"/>
                </a:solidFill>
                <a:latin typeface="Aptos" pitchFamily="34" charset="0"/>
                <a:ea typeface="Aptos" pitchFamily="34" charset="-122"/>
                <a:cs typeface="Aptos" pitchFamily="34" charset="-120"/>
              </a:rPr>
              <a:t>Regelwerk wählen</a:t>
            </a:r>
            <a:endParaRPr lang="en-US" sz="1700" dirty="0"/>
          </a:p>
        </p:txBody>
      </p:sp>
      <p:sp>
        <p:nvSpPr>
          <p:cNvPr id="7" name="Text 5"/>
          <p:cNvSpPr/>
          <p:nvPr/>
        </p:nvSpPr>
        <p:spPr>
          <a:xfrm>
            <a:off x="1563624" y="1709928"/>
            <a:ext cx="9637776" cy="512064"/>
          </a:xfrm>
          <a:prstGeom prst="rect">
            <a:avLst/>
          </a:prstGeom>
          <a:noFill/>
          <a:ln/>
        </p:spPr>
        <p:txBody>
          <a:bodyPr wrap="square" lIns="0" tIns="0" rIns="0" bIns="0" rtlCol="0" anchor="ctr">
            <a:normAutofit/>
          </a:bodyPr>
          <a:lstStyle/>
          <a:p>
            <a:pPr marL="0" indent="0">
              <a:buNone/>
            </a:pPr>
            <a:r>
              <a:rPr lang="en-US" sz="1450" dirty="0">
                <a:solidFill>
                  <a:srgbClr val="475569"/>
                </a:solidFill>
                <a:latin typeface="Aptos" pitchFamily="34" charset="0"/>
                <a:ea typeface="Aptos" pitchFamily="34" charset="-122"/>
                <a:cs typeface="Aptos" pitchFamily="34" charset="-120"/>
              </a:rPr>
              <a:t>ISO 9241‑110 oder Nielsen/Molich benennen und konsequent nutzen.</a:t>
            </a:r>
            <a:endParaRPr lang="en-US" sz="1450" dirty="0"/>
          </a:p>
        </p:txBody>
      </p:sp>
      <p:sp>
        <p:nvSpPr>
          <p:cNvPr id="8" name="Text 6"/>
          <p:cNvSpPr/>
          <p:nvPr/>
        </p:nvSpPr>
        <p:spPr>
          <a:xfrm>
            <a:off x="960120" y="2295144"/>
            <a:ext cx="438912" cy="438912"/>
          </a:xfrm>
          <a:prstGeom prst="rect">
            <a:avLst/>
          </a:prstGeom>
          <a:solidFill>
            <a:srgbClr val="0F766E"/>
          </a:solidFill>
          <a:ln>
            <a:solidFill>
              <a:srgbClr val="0F766E">
                <a:alpha val="0"/>
              </a:srgbClr>
            </a:solid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9" name="Text 7"/>
          <p:cNvSpPr/>
          <p:nvPr/>
        </p:nvSpPr>
        <p:spPr>
          <a:xfrm>
            <a:off x="1563624" y="2295144"/>
            <a:ext cx="9637776" cy="237744"/>
          </a:xfrm>
          <a:prstGeom prst="rect">
            <a:avLst/>
          </a:prstGeom>
          <a:noFill/>
          <a:ln/>
        </p:spPr>
        <p:txBody>
          <a:bodyPr wrap="square" lIns="0" tIns="0" rIns="0" bIns="0" rtlCol="0" anchor="ctr"/>
          <a:lstStyle/>
          <a:p>
            <a:pPr marL="0" indent="0">
              <a:buNone/>
            </a:pPr>
            <a:r>
              <a:rPr lang="en-US" sz="1700" b="1" dirty="0">
                <a:solidFill>
                  <a:srgbClr val="111827"/>
                </a:solidFill>
                <a:latin typeface="Aptos" pitchFamily="34" charset="0"/>
                <a:ea typeface="Aptos" pitchFamily="34" charset="-122"/>
                <a:cs typeface="Aptos" pitchFamily="34" charset="-120"/>
              </a:rPr>
              <a:t>Tasks planen</a:t>
            </a:r>
            <a:endParaRPr lang="en-US" sz="1700" dirty="0"/>
          </a:p>
        </p:txBody>
      </p:sp>
      <p:sp>
        <p:nvSpPr>
          <p:cNvPr id="10" name="Text 8"/>
          <p:cNvSpPr/>
          <p:nvPr/>
        </p:nvSpPr>
        <p:spPr>
          <a:xfrm>
            <a:off x="1563624" y="2587752"/>
            <a:ext cx="9637776" cy="512064"/>
          </a:xfrm>
          <a:prstGeom prst="rect">
            <a:avLst/>
          </a:prstGeom>
          <a:noFill/>
          <a:ln/>
        </p:spPr>
        <p:txBody>
          <a:bodyPr wrap="square" lIns="0" tIns="0" rIns="0" bIns="0" rtlCol="0" anchor="ctr">
            <a:normAutofit/>
          </a:bodyPr>
          <a:lstStyle/>
          <a:p>
            <a:pPr marL="0" indent="0">
              <a:buNone/>
            </a:pPr>
            <a:r>
              <a:rPr lang="en-US" sz="1450" dirty="0">
                <a:solidFill>
                  <a:srgbClr val="475569"/>
                </a:solidFill>
                <a:latin typeface="Aptos" pitchFamily="34" charset="0"/>
                <a:ea typeface="Aptos" pitchFamily="34" charset="-122"/>
                <a:cs typeface="Aptos" pitchFamily="34" charset="-120"/>
              </a:rPr>
              <a:t>3 typische Aufgaben aus Sicht der Zielgruppe formulieren.</a:t>
            </a:r>
            <a:endParaRPr lang="en-US" sz="1450" dirty="0"/>
          </a:p>
        </p:txBody>
      </p:sp>
      <p:sp>
        <p:nvSpPr>
          <p:cNvPr id="11" name="Text 9"/>
          <p:cNvSpPr/>
          <p:nvPr/>
        </p:nvSpPr>
        <p:spPr>
          <a:xfrm>
            <a:off x="960120" y="3172968"/>
            <a:ext cx="438912" cy="438912"/>
          </a:xfrm>
          <a:prstGeom prst="rect">
            <a:avLst/>
          </a:prstGeom>
          <a:solidFill>
            <a:srgbClr val="2563EB"/>
          </a:solidFill>
          <a:ln>
            <a:solidFill>
              <a:srgbClr val="2563EB">
                <a:alpha val="0"/>
              </a:srgbClr>
            </a:solid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12" name="Text 10"/>
          <p:cNvSpPr/>
          <p:nvPr/>
        </p:nvSpPr>
        <p:spPr>
          <a:xfrm>
            <a:off x="1563624" y="3172968"/>
            <a:ext cx="9637776" cy="237744"/>
          </a:xfrm>
          <a:prstGeom prst="rect">
            <a:avLst/>
          </a:prstGeom>
          <a:noFill/>
          <a:ln/>
        </p:spPr>
        <p:txBody>
          <a:bodyPr wrap="square" lIns="0" tIns="0" rIns="0" bIns="0" rtlCol="0" anchor="ctr"/>
          <a:lstStyle/>
          <a:p>
            <a:pPr marL="0" indent="0">
              <a:buNone/>
            </a:pPr>
            <a:r>
              <a:rPr lang="en-US" sz="1700" b="1" dirty="0">
                <a:solidFill>
                  <a:srgbClr val="111827"/>
                </a:solidFill>
                <a:latin typeface="Aptos" pitchFamily="34" charset="0"/>
                <a:ea typeface="Aptos" pitchFamily="34" charset="-122"/>
                <a:cs typeface="Aptos" pitchFamily="34" charset="-120"/>
              </a:rPr>
              <a:t>Findings dokumentieren</a:t>
            </a:r>
            <a:endParaRPr lang="en-US" sz="1700" dirty="0"/>
          </a:p>
        </p:txBody>
      </p:sp>
      <p:sp>
        <p:nvSpPr>
          <p:cNvPr id="13" name="Text 11"/>
          <p:cNvSpPr/>
          <p:nvPr/>
        </p:nvSpPr>
        <p:spPr>
          <a:xfrm>
            <a:off x="1563624" y="3465576"/>
            <a:ext cx="9637776" cy="512064"/>
          </a:xfrm>
          <a:prstGeom prst="rect">
            <a:avLst/>
          </a:prstGeom>
          <a:noFill/>
          <a:ln/>
        </p:spPr>
        <p:txBody>
          <a:bodyPr wrap="square" lIns="0" tIns="0" rIns="0" bIns="0" rtlCol="0" anchor="ctr">
            <a:normAutofit/>
          </a:bodyPr>
          <a:lstStyle/>
          <a:p>
            <a:pPr marL="0" indent="0">
              <a:buNone/>
            </a:pPr>
            <a:r>
              <a:rPr lang="en-US" sz="1450" dirty="0">
                <a:solidFill>
                  <a:srgbClr val="475569"/>
                </a:solidFill>
                <a:latin typeface="Aptos" pitchFamily="34" charset="0"/>
                <a:ea typeface="Aptos" pitchFamily="34" charset="-122"/>
                <a:cs typeface="Aptos" pitchFamily="34" charset="-120"/>
              </a:rPr>
              <a:t>Problem, Ort, Regel, Auswirkung, Fix und Beleg erfassen.</a:t>
            </a:r>
            <a:endParaRPr lang="en-US" sz="1450" dirty="0"/>
          </a:p>
        </p:txBody>
      </p:sp>
      <p:sp>
        <p:nvSpPr>
          <p:cNvPr id="14" name="Text 12"/>
          <p:cNvSpPr/>
          <p:nvPr/>
        </p:nvSpPr>
        <p:spPr>
          <a:xfrm>
            <a:off x="960120" y="4050792"/>
            <a:ext cx="438912" cy="438912"/>
          </a:xfrm>
          <a:prstGeom prst="rect">
            <a:avLst/>
          </a:prstGeom>
          <a:solidFill>
            <a:srgbClr val="2563EB"/>
          </a:solidFill>
          <a:ln>
            <a:solidFill>
              <a:srgbClr val="2563EB">
                <a:alpha val="0"/>
              </a:srgbClr>
            </a:solid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15" name="Text 13"/>
          <p:cNvSpPr/>
          <p:nvPr/>
        </p:nvSpPr>
        <p:spPr>
          <a:xfrm>
            <a:off x="1563624" y="4050792"/>
            <a:ext cx="9637776" cy="237744"/>
          </a:xfrm>
          <a:prstGeom prst="rect">
            <a:avLst/>
          </a:prstGeom>
          <a:noFill/>
          <a:ln/>
        </p:spPr>
        <p:txBody>
          <a:bodyPr wrap="square" lIns="0" tIns="0" rIns="0" bIns="0" rtlCol="0" anchor="ctr"/>
          <a:lstStyle/>
          <a:p>
            <a:pPr marL="0" indent="0">
              <a:buNone/>
            </a:pPr>
            <a:r>
              <a:rPr lang="en-US" sz="1700" b="1" dirty="0">
                <a:solidFill>
                  <a:srgbClr val="111827"/>
                </a:solidFill>
                <a:latin typeface="Aptos" pitchFamily="34" charset="0"/>
                <a:ea typeface="Aptos" pitchFamily="34" charset="-122"/>
                <a:cs typeface="Aptos" pitchFamily="34" charset="-120"/>
              </a:rPr>
              <a:t>Top‑5 priorisieren</a:t>
            </a:r>
            <a:endParaRPr lang="en-US" sz="1700" dirty="0"/>
          </a:p>
        </p:txBody>
      </p:sp>
      <p:sp>
        <p:nvSpPr>
          <p:cNvPr id="16" name="Text 14"/>
          <p:cNvSpPr/>
          <p:nvPr/>
        </p:nvSpPr>
        <p:spPr>
          <a:xfrm>
            <a:off x="1563624" y="4343400"/>
            <a:ext cx="9637776" cy="512064"/>
          </a:xfrm>
          <a:prstGeom prst="rect">
            <a:avLst/>
          </a:prstGeom>
          <a:noFill/>
          <a:ln/>
        </p:spPr>
        <p:txBody>
          <a:bodyPr wrap="square" lIns="0" tIns="0" rIns="0" bIns="0" rtlCol="0" anchor="ctr">
            <a:normAutofit/>
          </a:bodyPr>
          <a:lstStyle/>
          <a:p>
            <a:pPr marL="0" indent="0">
              <a:buNone/>
            </a:pPr>
            <a:r>
              <a:rPr lang="en-US" sz="1450" dirty="0">
                <a:solidFill>
                  <a:srgbClr val="475569"/>
                </a:solidFill>
                <a:latin typeface="Aptos" pitchFamily="34" charset="0"/>
                <a:ea typeface="Aptos" pitchFamily="34" charset="-122"/>
                <a:cs typeface="Aptos" pitchFamily="34" charset="-120"/>
              </a:rPr>
              <a:t>Doppelte Punkte bündeln und die wichtigsten Probleme auswählen.</a:t>
            </a:r>
            <a:endParaRPr lang="en-US" sz="1450" dirty="0"/>
          </a:p>
        </p:txBody>
      </p:sp>
      <p:sp>
        <p:nvSpPr>
          <p:cNvPr id="17" name="Text 15"/>
          <p:cNvSpPr/>
          <p:nvPr/>
        </p:nvSpPr>
        <p:spPr>
          <a:xfrm>
            <a:off x="960120" y="4928616"/>
            <a:ext cx="438912" cy="438912"/>
          </a:xfrm>
          <a:prstGeom prst="rect">
            <a:avLst/>
          </a:prstGeom>
          <a:solidFill>
            <a:srgbClr val="F59E0B"/>
          </a:solidFill>
          <a:ln>
            <a:solidFill>
              <a:srgbClr val="F59E0B">
                <a:alpha val="0"/>
              </a:srgbClr>
            </a:solid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5</a:t>
            </a:r>
            <a:endParaRPr lang="en-US" sz="1600" dirty="0"/>
          </a:p>
        </p:txBody>
      </p:sp>
      <p:sp>
        <p:nvSpPr>
          <p:cNvPr id="18" name="Text 16"/>
          <p:cNvSpPr/>
          <p:nvPr/>
        </p:nvSpPr>
        <p:spPr>
          <a:xfrm>
            <a:off x="1563624" y="4928616"/>
            <a:ext cx="9637776" cy="237744"/>
          </a:xfrm>
          <a:prstGeom prst="rect">
            <a:avLst/>
          </a:prstGeom>
          <a:noFill/>
          <a:ln/>
        </p:spPr>
        <p:txBody>
          <a:bodyPr wrap="square" lIns="0" tIns="0" rIns="0" bIns="0" rtlCol="0" anchor="ctr"/>
          <a:lstStyle/>
          <a:p>
            <a:pPr marL="0" indent="0">
              <a:buNone/>
            </a:pPr>
            <a:r>
              <a:rPr lang="en-US" sz="1700" b="1" dirty="0">
                <a:solidFill>
                  <a:srgbClr val="111827"/>
                </a:solidFill>
                <a:latin typeface="Aptos" pitchFamily="34" charset="0"/>
                <a:ea typeface="Aptos" pitchFamily="34" charset="-122"/>
                <a:cs typeface="Aptos" pitchFamily="34" charset="-120"/>
              </a:rPr>
              <a:t>Bericht schreiben</a:t>
            </a:r>
            <a:endParaRPr lang="en-US" sz="1700" dirty="0"/>
          </a:p>
        </p:txBody>
      </p:sp>
      <p:sp>
        <p:nvSpPr>
          <p:cNvPr id="19" name="Text 17"/>
          <p:cNvSpPr/>
          <p:nvPr/>
        </p:nvSpPr>
        <p:spPr>
          <a:xfrm>
            <a:off x="1563624" y="5221224"/>
            <a:ext cx="9637776" cy="512064"/>
          </a:xfrm>
          <a:prstGeom prst="rect">
            <a:avLst/>
          </a:prstGeom>
          <a:noFill/>
          <a:ln/>
        </p:spPr>
        <p:txBody>
          <a:bodyPr wrap="square" lIns="0" tIns="0" rIns="0" bIns="0" rtlCol="0" anchor="ctr">
            <a:normAutofit/>
          </a:bodyPr>
          <a:lstStyle/>
          <a:p>
            <a:pPr marL="0" indent="0">
              <a:buNone/>
            </a:pPr>
            <a:r>
              <a:rPr lang="en-US" sz="1450" dirty="0">
                <a:solidFill>
                  <a:srgbClr val="475569"/>
                </a:solidFill>
                <a:latin typeface="Aptos" pitchFamily="34" charset="0"/>
                <a:ea typeface="Aptos" pitchFamily="34" charset="-122"/>
                <a:cs typeface="Aptos" pitchFamily="34" charset="-120"/>
              </a:rPr>
              <a:t>1 A4-Seite sachlich, kurz und nachvollziehbar formulieren.</a:t>
            </a:r>
            <a:endParaRPr lang="en-US" sz="1450" dirty="0"/>
          </a:p>
        </p:txBody>
      </p:sp>
      <p:sp>
        <p:nvSpPr>
          <p:cNvPr id="20" name="Text 18"/>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1" name="Text 19"/>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05</a:t>
            </a:r>
            <a:endParaRPr lang="en-US" sz="850" dirty="0"/>
          </a:p>
        </p:txBody>
      </p:sp>
      <p:sp>
        <p:nvSpPr>
          <p:cNvPr id="22" name="Text 20"/>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Arbeitsblatt-Bezug: Lernziele Woche 10–12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MINI-INPUT</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Usability in einem Satz</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60120" y="1572768"/>
            <a:ext cx="2834640" cy="320040"/>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Usability heisst:</a:t>
            </a:r>
            <a:endParaRPr lang="en-US" sz="1800" dirty="0"/>
          </a:p>
        </p:txBody>
      </p:sp>
      <p:sp>
        <p:nvSpPr>
          <p:cNvPr id="6" name="Text 4"/>
          <p:cNvSpPr/>
          <p:nvPr/>
        </p:nvSpPr>
        <p:spPr>
          <a:xfrm>
            <a:off x="960120" y="1938528"/>
            <a:ext cx="10058400" cy="566928"/>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Nutzer:innen erreichen ihr Ziel ohne unnötige Hürden.</a:t>
            </a:r>
            <a:endParaRPr lang="en-US" sz="3100" dirty="0"/>
          </a:p>
        </p:txBody>
      </p:sp>
      <p:sp>
        <p:nvSpPr>
          <p:cNvPr id="7" name="Text 5"/>
          <p:cNvSpPr/>
          <p:nvPr/>
        </p:nvSpPr>
        <p:spPr>
          <a:xfrm>
            <a:off x="960120" y="2971800"/>
            <a:ext cx="3063240" cy="132588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8" name="Shape 6"/>
          <p:cNvSpPr/>
          <p:nvPr/>
        </p:nvSpPr>
        <p:spPr>
          <a:xfrm>
            <a:off x="960120" y="2971800"/>
            <a:ext cx="73152" cy="1325880"/>
          </a:xfrm>
          <a:prstGeom prst="rect">
            <a:avLst/>
          </a:prstGeom>
          <a:solidFill>
            <a:srgbClr val="0F766E"/>
          </a:solidFill>
          <a:ln w="12700">
            <a:solidFill>
              <a:srgbClr val="0F766E">
                <a:alpha val="0"/>
              </a:srgbClr>
            </a:solidFill>
            <a:prstDash val="solid"/>
          </a:ln>
        </p:spPr>
      </p:sp>
      <p:sp>
        <p:nvSpPr>
          <p:cNvPr id="9" name="Text 7"/>
          <p:cNvSpPr/>
          <p:nvPr/>
        </p:nvSpPr>
        <p:spPr>
          <a:xfrm>
            <a:off x="1179576" y="3154680"/>
            <a:ext cx="262432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Wirksam</a:t>
            </a:r>
            <a:endParaRPr lang="en-US" sz="2000" dirty="0"/>
          </a:p>
        </p:txBody>
      </p:sp>
      <p:sp>
        <p:nvSpPr>
          <p:cNvPr id="10" name="Text 8"/>
          <p:cNvSpPr/>
          <p:nvPr/>
        </p:nvSpPr>
        <p:spPr>
          <a:xfrm>
            <a:off x="1179576" y="3575304"/>
            <a:ext cx="2624328" cy="55778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Schaffen sie die Aufgabe?</a:t>
            </a:r>
            <a:endParaRPr lang="en-US" sz="1800" dirty="0"/>
          </a:p>
        </p:txBody>
      </p:sp>
      <p:sp>
        <p:nvSpPr>
          <p:cNvPr id="11" name="Text 9"/>
          <p:cNvSpPr/>
          <p:nvPr/>
        </p:nvSpPr>
        <p:spPr>
          <a:xfrm>
            <a:off x="4480560" y="2971800"/>
            <a:ext cx="3063240" cy="132588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2" name="Shape 10"/>
          <p:cNvSpPr/>
          <p:nvPr/>
        </p:nvSpPr>
        <p:spPr>
          <a:xfrm>
            <a:off x="4480560" y="2971800"/>
            <a:ext cx="73152" cy="1325880"/>
          </a:xfrm>
          <a:prstGeom prst="rect">
            <a:avLst/>
          </a:prstGeom>
          <a:solidFill>
            <a:srgbClr val="2563EB"/>
          </a:solidFill>
          <a:ln w="12700">
            <a:solidFill>
              <a:srgbClr val="2563EB">
                <a:alpha val="0"/>
              </a:srgbClr>
            </a:solidFill>
            <a:prstDash val="solid"/>
          </a:ln>
        </p:spPr>
      </p:sp>
      <p:sp>
        <p:nvSpPr>
          <p:cNvPr id="13" name="Text 11"/>
          <p:cNvSpPr/>
          <p:nvPr/>
        </p:nvSpPr>
        <p:spPr>
          <a:xfrm>
            <a:off x="4700016" y="3154680"/>
            <a:ext cx="262432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Effizient</a:t>
            </a:r>
            <a:endParaRPr lang="en-US" sz="2000" dirty="0"/>
          </a:p>
        </p:txBody>
      </p:sp>
      <p:sp>
        <p:nvSpPr>
          <p:cNvPr id="14" name="Text 12"/>
          <p:cNvSpPr/>
          <p:nvPr/>
        </p:nvSpPr>
        <p:spPr>
          <a:xfrm>
            <a:off x="4700016" y="3575304"/>
            <a:ext cx="2624328" cy="55778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Wie schnell und direkt?</a:t>
            </a:r>
            <a:endParaRPr lang="en-US" sz="1800" dirty="0"/>
          </a:p>
        </p:txBody>
      </p:sp>
      <p:sp>
        <p:nvSpPr>
          <p:cNvPr id="15" name="Text 13"/>
          <p:cNvSpPr/>
          <p:nvPr/>
        </p:nvSpPr>
        <p:spPr>
          <a:xfrm>
            <a:off x="8001000" y="2971800"/>
            <a:ext cx="3063240" cy="132588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6" name="Shape 14"/>
          <p:cNvSpPr/>
          <p:nvPr/>
        </p:nvSpPr>
        <p:spPr>
          <a:xfrm>
            <a:off x="8001000" y="2971800"/>
            <a:ext cx="73152" cy="1325880"/>
          </a:xfrm>
          <a:prstGeom prst="rect">
            <a:avLst/>
          </a:prstGeom>
          <a:solidFill>
            <a:srgbClr val="F59E0B"/>
          </a:solidFill>
          <a:ln w="12700">
            <a:solidFill>
              <a:srgbClr val="F59E0B">
                <a:alpha val="0"/>
              </a:srgbClr>
            </a:solidFill>
            <a:prstDash val="solid"/>
          </a:ln>
        </p:spPr>
      </p:sp>
      <p:sp>
        <p:nvSpPr>
          <p:cNvPr id="17" name="Text 15"/>
          <p:cNvSpPr/>
          <p:nvPr/>
        </p:nvSpPr>
        <p:spPr>
          <a:xfrm>
            <a:off x="8220456" y="3154680"/>
            <a:ext cx="262432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Zufrieden</a:t>
            </a:r>
            <a:endParaRPr lang="en-US" sz="2000" dirty="0"/>
          </a:p>
        </p:txBody>
      </p:sp>
      <p:sp>
        <p:nvSpPr>
          <p:cNvPr id="18" name="Text 16"/>
          <p:cNvSpPr/>
          <p:nvPr/>
        </p:nvSpPr>
        <p:spPr>
          <a:xfrm>
            <a:off x="8220456" y="3575304"/>
            <a:ext cx="2624328" cy="55778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Fühlt es sich klar und sicher an?</a:t>
            </a:r>
            <a:endParaRPr lang="en-US" sz="1800" dirty="0"/>
          </a:p>
        </p:txBody>
      </p:sp>
      <p:sp>
        <p:nvSpPr>
          <p:cNvPr id="19" name="Text 17"/>
          <p:cNvSpPr/>
          <p:nvPr/>
        </p:nvSpPr>
        <p:spPr>
          <a:xfrm>
            <a:off x="987552" y="5074920"/>
            <a:ext cx="10104120" cy="502920"/>
          </a:xfrm>
          <a:prstGeom prst="rect">
            <a:avLst/>
          </a:prstGeom>
          <a:noFill/>
          <a:ln/>
        </p:spPr>
        <p:txBody>
          <a:bodyPr wrap="square" lIns="0" tIns="0" rIns="0" bIns="0" rtlCol="0" anchor="ctr"/>
          <a:lstStyle/>
          <a:p>
            <a:pPr marL="0" indent="0" algn="ctr">
              <a:buNone/>
            </a:pPr>
            <a:r>
              <a:rPr lang="en-US" sz="2000" dirty="0">
                <a:solidFill>
                  <a:srgbClr val="475569"/>
                </a:solidFill>
                <a:latin typeface="Aptos" pitchFamily="34" charset="0"/>
                <a:ea typeface="Aptos" pitchFamily="34" charset="-122"/>
                <a:cs typeface="Aptos" pitchFamily="34" charset="-120"/>
              </a:rPr>
              <a:t>Im Bericht zählt nicht: „gefällt mir“. Es zählt: „Welche Aufgabe wird durch welche Gestaltung erschwert?“</a:t>
            </a:r>
            <a:endParaRPr lang="en-US" sz="2000" dirty="0"/>
          </a:p>
        </p:txBody>
      </p:sp>
      <p:sp>
        <p:nvSpPr>
          <p:cNvPr id="20" name="Text 18"/>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1" name="Text 19"/>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06</a:t>
            </a:r>
            <a:endParaRPr lang="en-US" sz="850" dirty="0"/>
          </a:p>
        </p:txBody>
      </p:sp>
      <p:sp>
        <p:nvSpPr>
          <p:cNvPr id="22" name="Text 20"/>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Sekundärquelle: Usability-Grundlagen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MINI-INPUT</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Regeln statt Bauchgefühl</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389888"/>
            <a:ext cx="3291840" cy="310896"/>
          </a:xfrm>
          <a:prstGeom prst="rect">
            <a:avLst/>
          </a:prstGeom>
          <a:noFill/>
          <a:ln/>
        </p:spPr>
        <p:txBody>
          <a:bodyPr wrap="square" lIns="0" tIns="0" rIns="0" bIns="0" rtlCol="0" anchor="ctr"/>
          <a:lstStyle/>
          <a:p>
            <a:pPr marL="0" indent="0">
              <a:buNone/>
            </a:pPr>
            <a:r>
              <a:rPr lang="en-US" sz="1750" b="1" dirty="0">
                <a:solidFill>
                  <a:srgbClr val="475569"/>
                </a:solidFill>
                <a:latin typeface="Aptos" pitchFamily="34" charset="0"/>
                <a:ea typeface="Aptos" pitchFamily="34" charset="-122"/>
                <a:cs typeface="Aptos" pitchFamily="34" charset="-120"/>
              </a:rPr>
              <a:t>Für den Bericht gilt:</a:t>
            </a:r>
            <a:endParaRPr lang="en-US" sz="1750" dirty="0"/>
          </a:p>
        </p:txBody>
      </p:sp>
      <p:sp>
        <p:nvSpPr>
          <p:cNvPr id="6" name="Text 4"/>
          <p:cNvSpPr/>
          <p:nvPr/>
        </p:nvSpPr>
        <p:spPr>
          <a:xfrm>
            <a:off x="914400" y="1783080"/>
            <a:ext cx="10058400" cy="493776"/>
          </a:xfrm>
          <a:prstGeom prst="rect">
            <a:avLst/>
          </a:prstGeom>
          <a:noFill/>
          <a:ln/>
        </p:spPr>
        <p:txBody>
          <a:bodyPr wrap="square" lIns="0" tIns="0" rIns="0" bIns="0" rtlCol="0" anchor="ctr"/>
          <a:lstStyle/>
          <a:p>
            <a:pPr marL="0" indent="0">
              <a:buNone/>
            </a:pPr>
            <a:r>
              <a:rPr lang="en-US" sz="2900" b="1" dirty="0">
                <a:solidFill>
                  <a:srgbClr val="111827"/>
                </a:solidFill>
                <a:latin typeface="Aptos Display" pitchFamily="34" charset="0"/>
                <a:ea typeface="Aptos Display" pitchFamily="34" charset="-122"/>
                <a:cs typeface="Aptos Display" pitchFamily="34" charset="-120"/>
              </a:rPr>
              <a:t>Wählt ein Regelwerk – und bleibt dabei.</a:t>
            </a:r>
            <a:endParaRPr lang="en-US" sz="2900" dirty="0"/>
          </a:p>
        </p:txBody>
      </p:sp>
      <p:sp>
        <p:nvSpPr>
          <p:cNvPr id="7" name="Text 5"/>
          <p:cNvSpPr/>
          <p:nvPr/>
        </p:nvSpPr>
        <p:spPr>
          <a:xfrm>
            <a:off x="960120" y="2761488"/>
            <a:ext cx="4892040" cy="1828800"/>
          </a:xfrm>
          <a:prstGeom prst="rect">
            <a:avLst/>
          </a:prstGeom>
          <a:solidFill>
            <a:srgbClr val="CCFBF1"/>
          </a:solidFill>
          <a:ln w="12700">
            <a:solidFill>
              <a:srgbClr val="CCFBF1"/>
            </a:solidFill>
          </a:ln>
        </p:spPr>
        <p:txBody>
          <a:bodyPr wrap="square" lIns="0" tIns="0" rIns="0" bIns="0" rtlCol="0" anchor="ctr"/>
          <a:lstStyle/>
          <a:p>
            <a:pPr marL="0" indent="0">
              <a:buNone/>
            </a:pPr>
            <a:endParaRPr lang="en-US" dirty="0"/>
          </a:p>
        </p:txBody>
      </p:sp>
      <p:sp>
        <p:nvSpPr>
          <p:cNvPr id="8" name="Shape 6"/>
          <p:cNvSpPr/>
          <p:nvPr/>
        </p:nvSpPr>
        <p:spPr>
          <a:xfrm>
            <a:off x="960120" y="2761488"/>
            <a:ext cx="73152" cy="1828800"/>
          </a:xfrm>
          <a:prstGeom prst="rect">
            <a:avLst/>
          </a:prstGeom>
          <a:solidFill>
            <a:srgbClr val="0F766E"/>
          </a:solidFill>
          <a:ln w="12700">
            <a:solidFill>
              <a:srgbClr val="0F766E">
                <a:alpha val="0"/>
              </a:srgbClr>
            </a:solidFill>
            <a:prstDash val="solid"/>
          </a:ln>
        </p:spPr>
      </p:sp>
      <p:sp>
        <p:nvSpPr>
          <p:cNvPr id="9" name="Text 7"/>
          <p:cNvSpPr/>
          <p:nvPr/>
        </p:nvSpPr>
        <p:spPr>
          <a:xfrm>
            <a:off x="1179576" y="2944368"/>
            <a:ext cx="4453128" cy="310896"/>
          </a:xfrm>
          <a:prstGeom prst="rect">
            <a:avLst/>
          </a:prstGeom>
          <a:noFill/>
          <a:ln/>
        </p:spPr>
        <p:txBody>
          <a:bodyPr wrap="square" lIns="0" tIns="0" rIns="0" bIns="0" rtlCol="0" anchor="ctr"/>
          <a:lstStyle/>
          <a:p>
            <a:pPr marL="0" indent="0">
              <a:buNone/>
            </a:pPr>
            <a:r>
              <a:rPr lang="en-US" sz="2000" b="1" dirty="0">
                <a:solidFill>
                  <a:srgbClr val="115E59"/>
                </a:solidFill>
                <a:latin typeface="Aptos" pitchFamily="34" charset="0"/>
                <a:ea typeface="Aptos" pitchFamily="34" charset="-122"/>
                <a:cs typeface="Aptos" pitchFamily="34" charset="-120"/>
              </a:rPr>
              <a:t>Option A: ISO 9241‑110</a:t>
            </a:r>
            <a:endParaRPr lang="en-US" sz="2000" dirty="0"/>
          </a:p>
        </p:txBody>
      </p:sp>
      <p:sp>
        <p:nvSpPr>
          <p:cNvPr id="10" name="Text 8"/>
          <p:cNvSpPr/>
          <p:nvPr/>
        </p:nvSpPr>
        <p:spPr>
          <a:xfrm>
            <a:off x="1179576" y="3364992"/>
            <a:ext cx="4453128" cy="1060704"/>
          </a:xfrm>
          <a:prstGeom prst="rect">
            <a:avLst/>
          </a:prstGeom>
          <a:noFill/>
          <a:ln/>
        </p:spPr>
        <p:txBody>
          <a:bodyPr wrap="square" lIns="0" tIns="0" rIns="0" bIns="0" rtlCol="0" anchor="t">
            <a:normAutofit/>
          </a:bodyPr>
          <a:lstStyle/>
          <a:p>
            <a:pPr marL="0" indent="0">
              <a:buNone/>
            </a:pPr>
            <a:r>
              <a:rPr lang="en-US" sz="1750" dirty="0">
                <a:solidFill>
                  <a:srgbClr val="115E59"/>
                </a:solidFill>
                <a:latin typeface="Aptos" pitchFamily="34" charset="0"/>
                <a:ea typeface="Aptos" pitchFamily="34" charset="-122"/>
                <a:cs typeface="Aptos" pitchFamily="34" charset="-120"/>
              </a:rPr>
              <a:t>Dialogprinzipien für interaktive Systeme.</a:t>
            </a:r>
            <a:endParaRPr lang="en-US" sz="1750" dirty="0"/>
          </a:p>
          <a:p>
            <a:pPr marL="0" indent="0">
              <a:buNone/>
            </a:pPr>
            <a:r>
              <a:rPr lang="en-US" sz="1750" dirty="0">
                <a:solidFill>
                  <a:srgbClr val="115E59"/>
                </a:solidFill>
                <a:latin typeface="Aptos" pitchFamily="34" charset="0"/>
                <a:ea typeface="Aptos" pitchFamily="34" charset="-122"/>
                <a:cs typeface="Aptos" pitchFamily="34" charset="-120"/>
              </a:rPr>
              <a:t>Gut, wenn ihr systematisch nach Prinzipien prüfen wollt.</a:t>
            </a:r>
            <a:endParaRPr lang="en-US" sz="1750" dirty="0"/>
          </a:p>
        </p:txBody>
      </p:sp>
      <p:sp>
        <p:nvSpPr>
          <p:cNvPr id="11" name="Text 9"/>
          <p:cNvSpPr/>
          <p:nvPr/>
        </p:nvSpPr>
        <p:spPr>
          <a:xfrm>
            <a:off x="6400800" y="2761488"/>
            <a:ext cx="4892040" cy="1828800"/>
          </a:xfrm>
          <a:prstGeom prst="rect">
            <a:avLst/>
          </a:prstGeom>
          <a:solidFill>
            <a:srgbClr val="DBEAFE"/>
          </a:solidFill>
          <a:ln w="12700">
            <a:solidFill>
              <a:srgbClr val="DBEAFE"/>
            </a:solidFill>
          </a:ln>
        </p:spPr>
        <p:txBody>
          <a:bodyPr wrap="square" lIns="0" tIns="0" rIns="0" bIns="0" rtlCol="0" anchor="ctr"/>
          <a:lstStyle/>
          <a:p>
            <a:pPr marL="0" indent="0">
              <a:buNone/>
            </a:pPr>
            <a:endParaRPr lang="en-US" dirty="0"/>
          </a:p>
        </p:txBody>
      </p:sp>
      <p:sp>
        <p:nvSpPr>
          <p:cNvPr id="12" name="Shape 10"/>
          <p:cNvSpPr/>
          <p:nvPr/>
        </p:nvSpPr>
        <p:spPr>
          <a:xfrm>
            <a:off x="6400800" y="2761488"/>
            <a:ext cx="73152" cy="1828800"/>
          </a:xfrm>
          <a:prstGeom prst="rect">
            <a:avLst/>
          </a:prstGeom>
          <a:solidFill>
            <a:srgbClr val="2563EB"/>
          </a:solidFill>
          <a:ln w="12700">
            <a:solidFill>
              <a:srgbClr val="2563EB">
                <a:alpha val="0"/>
              </a:srgbClr>
            </a:solidFill>
            <a:prstDash val="solid"/>
          </a:ln>
        </p:spPr>
      </p:sp>
      <p:sp>
        <p:nvSpPr>
          <p:cNvPr id="13" name="Text 11"/>
          <p:cNvSpPr/>
          <p:nvPr/>
        </p:nvSpPr>
        <p:spPr>
          <a:xfrm>
            <a:off x="6620256" y="2944368"/>
            <a:ext cx="4453128" cy="310896"/>
          </a:xfrm>
          <a:prstGeom prst="rect">
            <a:avLst/>
          </a:prstGeom>
          <a:noFill/>
          <a:ln/>
        </p:spPr>
        <p:txBody>
          <a:bodyPr wrap="square" lIns="0" tIns="0" rIns="0" bIns="0" rtlCol="0" anchor="ctr"/>
          <a:lstStyle/>
          <a:p>
            <a:pPr marL="0" indent="0">
              <a:buNone/>
            </a:pPr>
            <a:r>
              <a:rPr lang="en-US" sz="2000" b="1" dirty="0">
                <a:solidFill>
                  <a:srgbClr val="1E40AF"/>
                </a:solidFill>
                <a:latin typeface="Aptos" pitchFamily="34" charset="0"/>
                <a:ea typeface="Aptos" pitchFamily="34" charset="-122"/>
                <a:cs typeface="Aptos" pitchFamily="34" charset="-120"/>
              </a:rPr>
              <a:t>Option B: Nielsen/Molich</a:t>
            </a:r>
            <a:endParaRPr lang="en-US" sz="2000" dirty="0"/>
          </a:p>
        </p:txBody>
      </p:sp>
      <p:sp>
        <p:nvSpPr>
          <p:cNvPr id="14" name="Text 12"/>
          <p:cNvSpPr/>
          <p:nvPr/>
        </p:nvSpPr>
        <p:spPr>
          <a:xfrm>
            <a:off x="6620256" y="3364992"/>
            <a:ext cx="4453128" cy="1060704"/>
          </a:xfrm>
          <a:prstGeom prst="rect">
            <a:avLst/>
          </a:prstGeom>
          <a:noFill/>
          <a:ln/>
        </p:spPr>
        <p:txBody>
          <a:bodyPr wrap="square" lIns="0" tIns="0" rIns="0" bIns="0" rtlCol="0" anchor="t">
            <a:normAutofit/>
          </a:bodyPr>
          <a:lstStyle/>
          <a:p>
            <a:pPr marL="0" indent="0">
              <a:buNone/>
            </a:pPr>
            <a:r>
              <a:rPr lang="en-US" sz="1750" dirty="0">
                <a:solidFill>
                  <a:srgbClr val="1E40AF"/>
                </a:solidFill>
                <a:latin typeface="Aptos" pitchFamily="34" charset="0"/>
                <a:ea typeface="Aptos" pitchFamily="34" charset="-122"/>
                <a:cs typeface="Aptos" pitchFamily="34" charset="-120"/>
              </a:rPr>
              <a:t>10 Heuristiken als schnelle Prüffragen.</a:t>
            </a:r>
            <a:endParaRPr lang="en-US" sz="1750" dirty="0"/>
          </a:p>
          <a:p>
            <a:pPr marL="0" indent="0">
              <a:buNone/>
            </a:pPr>
            <a:r>
              <a:rPr lang="en-US" sz="1750" dirty="0">
                <a:solidFill>
                  <a:srgbClr val="1E40AF"/>
                </a:solidFill>
                <a:latin typeface="Aptos" pitchFamily="34" charset="0"/>
                <a:ea typeface="Aptos" pitchFamily="34" charset="-122"/>
                <a:cs typeface="Aptos" pitchFamily="34" charset="-120"/>
              </a:rPr>
              <a:t>Gut, wenn ihr konkrete Interface-Probleme sammelt.</a:t>
            </a:r>
            <a:endParaRPr lang="en-US" sz="1750" dirty="0"/>
          </a:p>
        </p:txBody>
      </p:sp>
      <p:sp>
        <p:nvSpPr>
          <p:cNvPr id="15" name="Text 13"/>
          <p:cNvSpPr/>
          <p:nvPr/>
        </p:nvSpPr>
        <p:spPr>
          <a:xfrm>
            <a:off x="1143000" y="5257800"/>
            <a:ext cx="9875520" cy="402336"/>
          </a:xfrm>
          <a:prstGeom prst="rect">
            <a:avLst/>
          </a:prstGeom>
          <a:noFill/>
          <a:ln/>
        </p:spPr>
        <p:txBody>
          <a:bodyPr wrap="square" lIns="0" tIns="0" rIns="0" bIns="0" rtlCol="0" anchor="ctr"/>
          <a:lstStyle/>
          <a:p>
            <a:pPr marL="0" indent="0" algn="ctr">
              <a:buNone/>
            </a:pPr>
            <a:r>
              <a:rPr lang="en-US" sz="2000" b="1" dirty="0">
                <a:solidFill>
                  <a:srgbClr val="111827"/>
                </a:solidFill>
                <a:latin typeface="Aptos" pitchFamily="34" charset="0"/>
                <a:ea typeface="Aptos" pitchFamily="34" charset="-122"/>
                <a:cs typeface="Aptos" pitchFamily="34" charset="-120"/>
              </a:rPr>
              <a:t>Wichtig: Regeln nicht nur aufzählen – immer mit konkreter Beobachtung verbinden.</a:t>
            </a:r>
            <a:endParaRPr lang="en-US" sz="2000" dirty="0"/>
          </a:p>
        </p:txBody>
      </p:sp>
      <p:sp>
        <p:nvSpPr>
          <p:cNvPr id="16" name="Text 14"/>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17" name="Text 15"/>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07</a:t>
            </a:r>
            <a:endParaRPr lang="en-US" sz="850" dirty="0"/>
          </a:p>
        </p:txBody>
      </p:sp>
      <p:sp>
        <p:nvSpPr>
          <p:cNvPr id="18" name="Text 16"/>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 Methode / Regelwerk</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BEGRIFFE</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Nielsen/Molich: 5 schnelle Prüffragen</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417320"/>
            <a:ext cx="2286000" cy="292608"/>
          </a:xfrm>
          <a:prstGeom prst="rect">
            <a:avLst/>
          </a:prstGeom>
          <a:noFill/>
          <a:ln/>
        </p:spPr>
        <p:txBody>
          <a:bodyPr wrap="square" lIns="0" tIns="0" rIns="0" bIns="0" rtlCol="0" anchor="ctr"/>
          <a:lstStyle/>
          <a:p>
            <a:pPr marL="0" indent="0">
              <a:buNone/>
            </a:pPr>
            <a:r>
              <a:rPr lang="en-US" sz="1700" b="1" dirty="0">
                <a:solidFill>
                  <a:srgbClr val="0F766E"/>
                </a:solidFill>
                <a:latin typeface="Aptos" pitchFamily="34" charset="0"/>
                <a:ea typeface="Aptos" pitchFamily="34" charset="-122"/>
                <a:cs typeface="Aptos" pitchFamily="34" charset="-120"/>
              </a:rPr>
              <a:t>Systemstatus</a:t>
            </a:r>
            <a:endParaRPr lang="en-US" sz="1700" dirty="0"/>
          </a:p>
        </p:txBody>
      </p:sp>
      <p:sp>
        <p:nvSpPr>
          <p:cNvPr id="6" name="Text 4"/>
          <p:cNvSpPr/>
          <p:nvPr/>
        </p:nvSpPr>
        <p:spPr>
          <a:xfrm>
            <a:off x="3474720" y="1417320"/>
            <a:ext cx="7589520" cy="292608"/>
          </a:xfrm>
          <a:prstGeom prst="rect">
            <a:avLst/>
          </a:prstGeom>
          <a:noFill/>
          <a:ln/>
        </p:spPr>
        <p:txBody>
          <a:bodyPr wrap="square" lIns="0" tIns="0" rIns="0" bIns="0" rtlCol="0" anchor="ctr"/>
          <a:lstStyle/>
          <a:p>
            <a:pPr marL="0" indent="0">
              <a:buNone/>
            </a:pPr>
            <a:r>
              <a:rPr lang="en-US" sz="1800" dirty="0">
                <a:solidFill>
                  <a:srgbClr val="111827"/>
                </a:solidFill>
                <a:latin typeface="Aptos" pitchFamily="34" charset="0"/>
                <a:ea typeface="Aptos" pitchFamily="34" charset="-122"/>
                <a:cs typeface="Aptos" pitchFamily="34" charset="-120"/>
              </a:rPr>
              <a:t>Sehe ich, was gerade passiert?</a:t>
            </a:r>
            <a:endParaRPr lang="en-US" sz="1800" dirty="0"/>
          </a:p>
        </p:txBody>
      </p:sp>
      <p:sp>
        <p:nvSpPr>
          <p:cNvPr id="7" name="Shape 5"/>
          <p:cNvSpPr/>
          <p:nvPr/>
        </p:nvSpPr>
        <p:spPr>
          <a:xfrm>
            <a:off x="914400" y="1892808"/>
            <a:ext cx="10241280" cy="0"/>
          </a:xfrm>
          <a:prstGeom prst="line">
            <a:avLst/>
          </a:prstGeom>
          <a:noFill/>
          <a:ln w="10160">
            <a:solidFill>
              <a:srgbClr val="E2E8F0"/>
            </a:solidFill>
            <a:prstDash val="solid"/>
          </a:ln>
        </p:spPr>
      </p:sp>
      <p:sp>
        <p:nvSpPr>
          <p:cNvPr id="8" name="Text 6"/>
          <p:cNvSpPr/>
          <p:nvPr/>
        </p:nvSpPr>
        <p:spPr>
          <a:xfrm>
            <a:off x="914400" y="2194560"/>
            <a:ext cx="2286000" cy="292608"/>
          </a:xfrm>
          <a:prstGeom prst="rect">
            <a:avLst/>
          </a:prstGeom>
          <a:noFill/>
          <a:ln/>
        </p:spPr>
        <p:txBody>
          <a:bodyPr wrap="square" lIns="0" tIns="0" rIns="0" bIns="0" rtlCol="0" anchor="ctr"/>
          <a:lstStyle/>
          <a:p>
            <a:pPr marL="0" indent="0">
              <a:buNone/>
            </a:pPr>
            <a:r>
              <a:rPr lang="en-US" sz="1700" b="1" dirty="0">
                <a:solidFill>
                  <a:srgbClr val="2563EB"/>
                </a:solidFill>
                <a:latin typeface="Aptos" pitchFamily="34" charset="0"/>
                <a:ea typeface="Aptos" pitchFamily="34" charset="-122"/>
                <a:cs typeface="Aptos" pitchFamily="34" charset="-120"/>
              </a:rPr>
              <a:t>Reale Welt</a:t>
            </a:r>
            <a:endParaRPr lang="en-US" sz="1700" dirty="0"/>
          </a:p>
        </p:txBody>
      </p:sp>
      <p:sp>
        <p:nvSpPr>
          <p:cNvPr id="9" name="Text 7"/>
          <p:cNvSpPr/>
          <p:nvPr/>
        </p:nvSpPr>
        <p:spPr>
          <a:xfrm>
            <a:off x="3474720" y="2194560"/>
            <a:ext cx="7589520" cy="292608"/>
          </a:xfrm>
          <a:prstGeom prst="rect">
            <a:avLst/>
          </a:prstGeom>
          <a:noFill/>
          <a:ln/>
        </p:spPr>
        <p:txBody>
          <a:bodyPr wrap="square" lIns="0" tIns="0" rIns="0" bIns="0" rtlCol="0" anchor="ctr"/>
          <a:lstStyle/>
          <a:p>
            <a:pPr marL="0" indent="0">
              <a:buNone/>
            </a:pPr>
            <a:r>
              <a:rPr lang="en-US" sz="1800" dirty="0">
                <a:solidFill>
                  <a:srgbClr val="111827"/>
                </a:solidFill>
                <a:latin typeface="Aptos" pitchFamily="34" charset="0"/>
                <a:ea typeface="Aptos" pitchFamily="34" charset="-122"/>
                <a:cs typeface="Aptos" pitchFamily="34" charset="-120"/>
              </a:rPr>
              <a:t>Spricht das System meine Sprache?</a:t>
            </a:r>
            <a:endParaRPr lang="en-US" sz="1800" dirty="0"/>
          </a:p>
        </p:txBody>
      </p:sp>
      <p:sp>
        <p:nvSpPr>
          <p:cNvPr id="10" name="Shape 8"/>
          <p:cNvSpPr/>
          <p:nvPr/>
        </p:nvSpPr>
        <p:spPr>
          <a:xfrm>
            <a:off x="914400" y="2670048"/>
            <a:ext cx="10241280" cy="0"/>
          </a:xfrm>
          <a:prstGeom prst="line">
            <a:avLst/>
          </a:prstGeom>
          <a:noFill/>
          <a:ln w="10160">
            <a:solidFill>
              <a:srgbClr val="E2E8F0"/>
            </a:solidFill>
            <a:prstDash val="solid"/>
          </a:ln>
        </p:spPr>
      </p:sp>
      <p:sp>
        <p:nvSpPr>
          <p:cNvPr id="11" name="Text 9"/>
          <p:cNvSpPr/>
          <p:nvPr/>
        </p:nvSpPr>
        <p:spPr>
          <a:xfrm>
            <a:off x="914400" y="2971800"/>
            <a:ext cx="2286000" cy="292608"/>
          </a:xfrm>
          <a:prstGeom prst="rect">
            <a:avLst/>
          </a:prstGeom>
          <a:noFill/>
          <a:ln/>
        </p:spPr>
        <p:txBody>
          <a:bodyPr wrap="square" lIns="0" tIns="0" rIns="0" bIns="0" rtlCol="0" anchor="ctr"/>
          <a:lstStyle/>
          <a:p>
            <a:pPr marL="0" indent="0">
              <a:buNone/>
            </a:pPr>
            <a:r>
              <a:rPr lang="en-US" sz="1700" b="1" dirty="0">
                <a:solidFill>
                  <a:srgbClr val="F59E0B"/>
                </a:solidFill>
                <a:latin typeface="Aptos" pitchFamily="34" charset="0"/>
                <a:ea typeface="Aptos" pitchFamily="34" charset="-122"/>
                <a:cs typeface="Aptos" pitchFamily="34" charset="-120"/>
              </a:rPr>
              <a:t>Kontrolle</a:t>
            </a:r>
            <a:endParaRPr lang="en-US" sz="1700" dirty="0"/>
          </a:p>
        </p:txBody>
      </p:sp>
      <p:sp>
        <p:nvSpPr>
          <p:cNvPr id="12" name="Text 10"/>
          <p:cNvSpPr/>
          <p:nvPr/>
        </p:nvSpPr>
        <p:spPr>
          <a:xfrm>
            <a:off x="3474720" y="2971800"/>
            <a:ext cx="7589520" cy="292608"/>
          </a:xfrm>
          <a:prstGeom prst="rect">
            <a:avLst/>
          </a:prstGeom>
          <a:noFill/>
          <a:ln/>
        </p:spPr>
        <p:txBody>
          <a:bodyPr wrap="square" lIns="0" tIns="0" rIns="0" bIns="0" rtlCol="0" anchor="ctr"/>
          <a:lstStyle/>
          <a:p>
            <a:pPr marL="0" indent="0">
              <a:buNone/>
            </a:pPr>
            <a:r>
              <a:rPr lang="en-US" sz="1800" dirty="0">
                <a:solidFill>
                  <a:srgbClr val="111827"/>
                </a:solidFill>
                <a:latin typeface="Aptos" pitchFamily="34" charset="0"/>
                <a:ea typeface="Aptos" pitchFamily="34" charset="-122"/>
                <a:cs typeface="Aptos" pitchFamily="34" charset="-120"/>
              </a:rPr>
              <a:t>Kann ich zurück, abbrechen oder korrigieren?</a:t>
            </a:r>
            <a:endParaRPr lang="en-US" sz="1800" dirty="0"/>
          </a:p>
        </p:txBody>
      </p:sp>
      <p:sp>
        <p:nvSpPr>
          <p:cNvPr id="13" name="Shape 11"/>
          <p:cNvSpPr/>
          <p:nvPr/>
        </p:nvSpPr>
        <p:spPr>
          <a:xfrm>
            <a:off x="914400" y="3447288"/>
            <a:ext cx="10241280" cy="0"/>
          </a:xfrm>
          <a:prstGeom prst="line">
            <a:avLst/>
          </a:prstGeom>
          <a:noFill/>
          <a:ln w="10160">
            <a:solidFill>
              <a:srgbClr val="E2E8F0"/>
            </a:solidFill>
            <a:prstDash val="solid"/>
          </a:ln>
        </p:spPr>
      </p:sp>
      <p:sp>
        <p:nvSpPr>
          <p:cNvPr id="14" name="Text 12"/>
          <p:cNvSpPr/>
          <p:nvPr/>
        </p:nvSpPr>
        <p:spPr>
          <a:xfrm>
            <a:off x="914400" y="3749040"/>
            <a:ext cx="2286000" cy="292608"/>
          </a:xfrm>
          <a:prstGeom prst="rect">
            <a:avLst/>
          </a:prstGeom>
          <a:noFill/>
          <a:ln/>
        </p:spPr>
        <p:txBody>
          <a:bodyPr wrap="square" lIns="0" tIns="0" rIns="0" bIns="0" rtlCol="0" anchor="ctr"/>
          <a:lstStyle/>
          <a:p>
            <a:pPr marL="0" indent="0">
              <a:buNone/>
            </a:pPr>
            <a:r>
              <a:rPr lang="en-US" sz="1700" b="1" dirty="0">
                <a:solidFill>
                  <a:srgbClr val="6D28D9"/>
                </a:solidFill>
                <a:latin typeface="Aptos" pitchFamily="34" charset="0"/>
                <a:ea typeface="Aptos" pitchFamily="34" charset="-122"/>
                <a:cs typeface="Aptos" pitchFamily="34" charset="-120"/>
              </a:rPr>
              <a:t>Konsistenz</a:t>
            </a:r>
            <a:endParaRPr lang="en-US" sz="1700" dirty="0"/>
          </a:p>
        </p:txBody>
      </p:sp>
      <p:sp>
        <p:nvSpPr>
          <p:cNvPr id="15" name="Text 13"/>
          <p:cNvSpPr/>
          <p:nvPr/>
        </p:nvSpPr>
        <p:spPr>
          <a:xfrm>
            <a:off x="3474720" y="3749040"/>
            <a:ext cx="7589520" cy="292608"/>
          </a:xfrm>
          <a:prstGeom prst="rect">
            <a:avLst/>
          </a:prstGeom>
          <a:noFill/>
          <a:ln/>
        </p:spPr>
        <p:txBody>
          <a:bodyPr wrap="square" lIns="0" tIns="0" rIns="0" bIns="0" rtlCol="0" anchor="ctr"/>
          <a:lstStyle/>
          <a:p>
            <a:pPr marL="0" indent="0">
              <a:buNone/>
            </a:pPr>
            <a:r>
              <a:rPr lang="en-US" sz="1800" dirty="0">
                <a:solidFill>
                  <a:srgbClr val="111827"/>
                </a:solidFill>
                <a:latin typeface="Aptos" pitchFamily="34" charset="0"/>
                <a:ea typeface="Aptos" pitchFamily="34" charset="-122"/>
                <a:cs typeface="Aptos" pitchFamily="34" charset="-120"/>
              </a:rPr>
              <a:t>Bedeutet Gleiches überall Gleiches?</a:t>
            </a:r>
            <a:endParaRPr lang="en-US" sz="1800" dirty="0"/>
          </a:p>
        </p:txBody>
      </p:sp>
      <p:sp>
        <p:nvSpPr>
          <p:cNvPr id="16" name="Shape 14"/>
          <p:cNvSpPr/>
          <p:nvPr/>
        </p:nvSpPr>
        <p:spPr>
          <a:xfrm>
            <a:off x="914400" y="4224528"/>
            <a:ext cx="10241280" cy="0"/>
          </a:xfrm>
          <a:prstGeom prst="line">
            <a:avLst/>
          </a:prstGeom>
          <a:noFill/>
          <a:ln w="10160">
            <a:solidFill>
              <a:srgbClr val="E2E8F0"/>
            </a:solidFill>
            <a:prstDash val="solid"/>
          </a:ln>
        </p:spPr>
      </p:sp>
      <p:sp>
        <p:nvSpPr>
          <p:cNvPr id="17" name="Text 15"/>
          <p:cNvSpPr/>
          <p:nvPr/>
        </p:nvSpPr>
        <p:spPr>
          <a:xfrm>
            <a:off x="914400" y="4526280"/>
            <a:ext cx="2286000" cy="292608"/>
          </a:xfrm>
          <a:prstGeom prst="rect">
            <a:avLst/>
          </a:prstGeom>
          <a:noFill/>
          <a:ln/>
        </p:spPr>
        <p:txBody>
          <a:bodyPr wrap="square" lIns="0" tIns="0" rIns="0" bIns="0" rtlCol="0" anchor="ctr"/>
          <a:lstStyle/>
          <a:p>
            <a:pPr marL="0" indent="0">
              <a:buNone/>
            </a:pPr>
            <a:r>
              <a:rPr lang="en-US" sz="1700" b="1" dirty="0">
                <a:solidFill>
                  <a:srgbClr val="166534"/>
                </a:solidFill>
                <a:latin typeface="Aptos" pitchFamily="34" charset="0"/>
                <a:ea typeface="Aptos" pitchFamily="34" charset="-122"/>
                <a:cs typeface="Aptos" pitchFamily="34" charset="-120"/>
              </a:rPr>
              <a:t>Fehlerhilfe</a:t>
            </a:r>
            <a:endParaRPr lang="en-US" sz="1700" dirty="0"/>
          </a:p>
        </p:txBody>
      </p:sp>
      <p:sp>
        <p:nvSpPr>
          <p:cNvPr id="18" name="Text 16"/>
          <p:cNvSpPr/>
          <p:nvPr/>
        </p:nvSpPr>
        <p:spPr>
          <a:xfrm>
            <a:off x="3474720" y="4526280"/>
            <a:ext cx="7589520" cy="292608"/>
          </a:xfrm>
          <a:prstGeom prst="rect">
            <a:avLst/>
          </a:prstGeom>
          <a:noFill/>
          <a:ln/>
        </p:spPr>
        <p:txBody>
          <a:bodyPr wrap="square" lIns="0" tIns="0" rIns="0" bIns="0" rtlCol="0" anchor="ctr"/>
          <a:lstStyle/>
          <a:p>
            <a:pPr marL="0" indent="0">
              <a:buNone/>
            </a:pPr>
            <a:r>
              <a:rPr lang="en-US" sz="1800" dirty="0">
                <a:solidFill>
                  <a:srgbClr val="111827"/>
                </a:solidFill>
                <a:latin typeface="Aptos" pitchFamily="34" charset="0"/>
                <a:ea typeface="Aptos" pitchFamily="34" charset="-122"/>
                <a:cs typeface="Aptos" pitchFamily="34" charset="-120"/>
              </a:rPr>
              <a:t>Verstehe ich, was falsch ist und was ich tun soll?</a:t>
            </a:r>
            <a:endParaRPr lang="en-US" sz="1800" dirty="0"/>
          </a:p>
        </p:txBody>
      </p:sp>
      <p:sp>
        <p:nvSpPr>
          <p:cNvPr id="19" name="Shape 17"/>
          <p:cNvSpPr/>
          <p:nvPr/>
        </p:nvSpPr>
        <p:spPr>
          <a:xfrm>
            <a:off x="914400" y="5001768"/>
            <a:ext cx="10241280" cy="0"/>
          </a:xfrm>
          <a:prstGeom prst="line">
            <a:avLst/>
          </a:prstGeom>
          <a:noFill/>
          <a:ln w="10160">
            <a:solidFill>
              <a:srgbClr val="E2E8F0"/>
            </a:solidFill>
            <a:prstDash val="solid"/>
          </a:ln>
        </p:spPr>
      </p:sp>
      <p:sp>
        <p:nvSpPr>
          <p:cNvPr id="20" name="Text 18"/>
          <p:cNvSpPr/>
          <p:nvPr/>
        </p:nvSpPr>
        <p:spPr>
          <a:xfrm>
            <a:off x="914400" y="5532120"/>
            <a:ext cx="10149840" cy="329184"/>
          </a:xfrm>
          <a:prstGeom prst="rect">
            <a:avLst/>
          </a:prstGeom>
          <a:noFill/>
          <a:ln/>
        </p:spPr>
        <p:txBody>
          <a:bodyPr wrap="square" lIns="0" tIns="0" rIns="0" bIns="0" rtlCol="0" anchor="ctr"/>
          <a:lstStyle/>
          <a:p>
            <a:pPr marL="0" indent="0" algn="ctr">
              <a:buNone/>
            </a:pPr>
            <a:r>
              <a:rPr lang="en-US" sz="1800" dirty="0">
                <a:solidFill>
                  <a:srgbClr val="475569"/>
                </a:solidFill>
                <a:latin typeface="Aptos" pitchFamily="34" charset="0"/>
                <a:ea typeface="Aptos" pitchFamily="34" charset="-122"/>
                <a:cs typeface="Aptos" pitchFamily="34" charset="-120"/>
              </a:rPr>
              <a:t>Diese Auswahl reicht für den Start. Im Bericht nennt ihr die passende Heuristik sauber.</a:t>
            </a:r>
            <a:endParaRPr lang="en-US" sz="1800" dirty="0"/>
          </a:p>
        </p:txBody>
      </p:sp>
      <p:sp>
        <p:nvSpPr>
          <p:cNvPr id="21" name="Text 19"/>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2" name="Text 20"/>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08</a:t>
            </a:r>
            <a:endParaRPr lang="en-US" sz="850" dirty="0"/>
          </a:p>
        </p:txBody>
      </p:sp>
      <p:sp>
        <p:nvSpPr>
          <p:cNvPr id="23" name="Text 21"/>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Quelle: Heuristiken + Checkliste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CHECKLISTE</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Detail-Check: Worauf achten wir?</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868680" y="1435608"/>
            <a:ext cx="292608" cy="292608"/>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a:t>
            </a:r>
            <a:endParaRPr lang="en-US" sz="1800" dirty="0"/>
          </a:p>
        </p:txBody>
      </p:sp>
      <p:sp>
        <p:nvSpPr>
          <p:cNvPr id="6" name="Text 4"/>
          <p:cNvSpPr/>
          <p:nvPr/>
        </p:nvSpPr>
        <p:spPr>
          <a:xfrm>
            <a:off x="1216152" y="1417320"/>
            <a:ext cx="1920240" cy="274320"/>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Verständlichkeit</a:t>
            </a:r>
            <a:endParaRPr lang="en-US" sz="1750" dirty="0"/>
          </a:p>
        </p:txBody>
      </p:sp>
      <p:sp>
        <p:nvSpPr>
          <p:cNvPr id="7" name="Text 5"/>
          <p:cNvSpPr/>
          <p:nvPr/>
        </p:nvSpPr>
        <p:spPr>
          <a:xfrm>
            <a:off x="1216152" y="1746504"/>
            <a:ext cx="4572000" cy="320040"/>
          </a:xfrm>
          <a:prstGeom prst="rect">
            <a:avLst/>
          </a:prstGeom>
          <a:noFill/>
          <a:ln/>
        </p:spPr>
        <p:txBody>
          <a:bodyPr wrap="square" lIns="0" tIns="0" rIns="0" bIns="0" rtlCol="0" anchor="ctr">
            <a:normAutofit/>
          </a:bodyPr>
          <a:lstStyle/>
          <a:p>
            <a:pPr marL="0" indent="0">
              <a:buNone/>
            </a:pPr>
            <a:r>
              <a:rPr lang="en-US" sz="1480" dirty="0">
                <a:solidFill>
                  <a:srgbClr val="475569"/>
                </a:solidFill>
                <a:latin typeface="Aptos" pitchFamily="34" charset="0"/>
                <a:ea typeface="Aptos" pitchFamily="34" charset="-122"/>
                <a:cs typeface="Aptos" pitchFamily="34" charset="-120"/>
              </a:rPr>
              <a:t>Sprache, Begriffe, visuelle Hierarchie</a:t>
            </a:r>
            <a:endParaRPr lang="en-US" sz="1480" dirty="0"/>
          </a:p>
        </p:txBody>
      </p:sp>
      <p:sp>
        <p:nvSpPr>
          <p:cNvPr id="8" name="Text 6"/>
          <p:cNvSpPr/>
          <p:nvPr/>
        </p:nvSpPr>
        <p:spPr>
          <a:xfrm>
            <a:off x="6172200" y="1435608"/>
            <a:ext cx="292608" cy="292608"/>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6519672" y="1417320"/>
            <a:ext cx="1920240" cy="274320"/>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Steuerbarkeit</a:t>
            </a:r>
            <a:endParaRPr lang="en-US" sz="1750" dirty="0"/>
          </a:p>
        </p:txBody>
      </p:sp>
      <p:sp>
        <p:nvSpPr>
          <p:cNvPr id="10" name="Text 8"/>
          <p:cNvSpPr/>
          <p:nvPr/>
        </p:nvSpPr>
        <p:spPr>
          <a:xfrm>
            <a:off x="6519672" y="1746504"/>
            <a:ext cx="4572000" cy="320040"/>
          </a:xfrm>
          <a:prstGeom prst="rect">
            <a:avLst/>
          </a:prstGeom>
          <a:noFill/>
          <a:ln/>
        </p:spPr>
        <p:txBody>
          <a:bodyPr wrap="square" lIns="0" tIns="0" rIns="0" bIns="0" rtlCol="0" anchor="ctr">
            <a:normAutofit/>
          </a:bodyPr>
          <a:lstStyle/>
          <a:p>
            <a:pPr marL="0" indent="0">
              <a:buNone/>
            </a:pPr>
            <a:r>
              <a:rPr lang="en-US" sz="1480" dirty="0">
                <a:solidFill>
                  <a:srgbClr val="475569"/>
                </a:solidFill>
                <a:latin typeface="Aptos" pitchFamily="34" charset="0"/>
                <a:ea typeface="Aptos" pitchFamily="34" charset="-122"/>
                <a:cs typeface="Aptos" pitchFamily="34" charset="-120"/>
              </a:rPr>
              <a:t>Navigation, Suche, wichtige Funktionen</a:t>
            </a:r>
            <a:endParaRPr lang="en-US" sz="1480" dirty="0"/>
          </a:p>
        </p:txBody>
      </p:sp>
      <p:sp>
        <p:nvSpPr>
          <p:cNvPr id="11" name="Text 9"/>
          <p:cNvSpPr/>
          <p:nvPr/>
        </p:nvSpPr>
        <p:spPr>
          <a:xfrm>
            <a:off x="868680" y="2377440"/>
            <a:ext cx="292608" cy="292608"/>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a:t>
            </a:r>
            <a:endParaRPr lang="en-US" sz="1800" dirty="0"/>
          </a:p>
        </p:txBody>
      </p:sp>
      <p:sp>
        <p:nvSpPr>
          <p:cNvPr id="12" name="Text 10"/>
          <p:cNvSpPr/>
          <p:nvPr/>
        </p:nvSpPr>
        <p:spPr>
          <a:xfrm>
            <a:off x="1216152" y="2359152"/>
            <a:ext cx="1920240" cy="274320"/>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Fehlertoleranz</a:t>
            </a:r>
            <a:endParaRPr lang="en-US" sz="1750" dirty="0"/>
          </a:p>
        </p:txBody>
      </p:sp>
      <p:sp>
        <p:nvSpPr>
          <p:cNvPr id="13" name="Text 11"/>
          <p:cNvSpPr/>
          <p:nvPr/>
        </p:nvSpPr>
        <p:spPr>
          <a:xfrm>
            <a:off x="1216152" y="2688336"/>
            <a:ext cx="4572000" cy="320040"/>
          </a:xfrm>
          <a:prstGeom prst="rect">
            <a:avLst/>
          </a:prstGeom>
          <a:noFill/>
          <a:ln/>
        </p:spPr>
        <p:txBody>
          <a:bodyPr wrap="square" lIns="0" tIns="0" rIns="0" bIns="0" rtlCol="0" anchor="ctr">
            <a:normAutofit/>
          </a:bodyPr>
          <a:lstStyle/>
          <a:p>
            <a:pPr marL="0" indent="0">
              <a:buNone/>
            </a:pPr>
            <a:r>
              <a:rPr lang="en-US" sz="1480" dirty="0">
                <a:solidFill>
                  <a:srgbClr val="475569"/>
                </a:solidFill>
                <a:latin typeface="Aptos" pitchFamily="34" charset="0"/>
                <a:ea typeface="Aptos" pitchFamily="34" charset="-122"/>
                <a:cs typeface="Aptos" pitchFamily="34" charset="-120"/>
              </a:rPr>
              <a:t>Fehlermeldungen, Korrektur, Rückgängig</a:t>
            </a:r>
            <a:endParaRPr lang="en-US" sz="1480" dirty="0"/>
          </a:p>
        </p:txBody>
      </p:sp>
      <p:sp>
        <p:nvSpPr>
          <p:cNvPr id="14" name="Text 12"/>
          <p:cNvSpPr/>
          <p:nvPr/>
        </p:nvSpPr>
        <p:spPr>
          <a:xfrm>
            <a:off x="6172200" y="2377440"/>
            <a:ext cx="292608" cy="292608"/>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6519672" y="2359152"/>
            <a:ext cx="1920240" cy="274320"/>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Feedback</a:t>
            </a:r>
            <a:endParaRPr lang="en-US" sz="1750" dirty="0"/>
          </a:p>
        </p:txBody>
      </p:sp>
      <p:sp>
        <p:nvSpPr>
          <p:cNvPr id="16" name="Text 14"/>
          <p:cNvSpPr/>
          <p:nvPr/>
        </p:nvSpPr>
        <p:spPr>
          <a:xfrm>
            <a:off x="6519672" y="2688336"/>
            <a:ext cx="4572000" cy="320040"/>
          </a:xfrm>
          <a:prstGeom prst="rect">
            <a:avLst/>
          </a:prstGeom>
          <a:noFill/>
          <a:ln/>
        </p:spPr>
        <p:txBody>
          <a:bodyPr wrap="square" lIns="0" tIns="0" rIns="0" bIns="0" rtlCol="0" anchor="ctr">
            <a:normAutofit/>
          </a:bodyPr>
          <a:lstStyle/>
          <a:p>
            <a:pPr marL="0" indent="0">
              <a:buNone/>
            </a:pPr>
            <a:r>
              <a:rPr lang="en-US" sz="1480" dirty="0">
                <a:solidFill>
                  <a:srgbClr val="475569"/>
                </a:solidFill>
                <a:latin typeface="Aptos" pitchFamily="34" charset="0"/>
                <a:ea typeface="Aptos" pitchFamily="34" charset="-122"/>
                <a:cs typeface="Aptos" pitchFamily="34" charset="-120"/>
              </a:rPr>
              <a:t>Rückmeldung, Ladeanzeige, Fortschritt</a:t>
            </a:r>
            <a:endParaRPr lang="en-US" sz="1480" dirty="0"/>
          </a:p>
        </p:txBody>
      </p:sp>
      <p:sp>
        <p:nvSpPr>
          <p:cNvPr id="17" name="Text 15"/>
          <p:cNvSpPr/>
          <p:nvPr/>
        </p:nvSpPr>
        <p:spPr>
          <a:xfrm>
            <a:off x="868680" y="3319272"/>
            <a:ext cx="292608" cy="292608"/>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216152" y="3300984"/>
            <a:ext cx="1920240" cy="274320"/>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Barriere-Basics</a:t>
            </a:r>
            <a:endParaRPr lang="en-US" sz="1750" dirty="0"/>
          </a:p>
        </p:txBody>
      </p:sp>
      <p:sp>
        <p:nvSpPr>
          <p:cNvPr id="19" name="Text 17"/>
          <p:cNvSpPr/>
          <p:nvPr/>
        </p:nvSpPr>
        <p:spPr>
          <a:xfrm>
            <a:off x="1216152" y="3630168"/>
            <a:ext cx="4572000" cy="320040"/>
          </a:xfrm>
          <a:prstGeom prst="rect">
            <a:avLst/>
          </a:prstGeom>
          <a:noFill/>
          <a:ln/>
        </p:spPr>
        <p:txBody>
          <a:bodyPr wrap="square" lIns="0" tIns="0" rIns="0" bIns="0" rtlCol="0" anchor="ctr">
            <a:normAutofit/>
          </a:bodyPr>
          <a:lstStyle/>
          <a:p>
            <a:pPr marL="0" indent="0">
              <a:buNone/>
            </a:pPr>
            <a:r>
              <a:rPr lang="en-US" sz="1480" dirty="0">
                <a:solidFill>
                  <a:srgbClr val="475569"/>
                </a:solidFill>
                <a:latin typeface="Aptos" pitchFamily="34" charset="0"/>
                <a:ea typeface="Aptos" pitchFamily="34" charset="-122"/>
                <a:cs typeface="Aptos" pitchFamily="34" charset="-120"/>
              </a:rPr>
              <a:t>Mobile Ansicht, Kontrast, Alternativtexte</a:t>
            </a:r>
            <a:endParaRPr lang="en-US" sz="1480" dirty="0"/>
          </a:p>
        </p:txBody>
      </p:sp>
      <p:sp>
        <p:nvSpPr>
          <p:cNvPr id="20" name="Text 18"/>
          <p:cNvSpPr/>
          <p:nvPr/>
        </p:nvSpPr>
        <p:spPr>
          <a:xfrm>
            <a:off x="6172200" y="3319272"/>
            <a:ext cx="292608" cy="292608"/>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a:t>
            </a:r>
            <a:endParaRPr lang="en-US" sz="1800" dirty="0"/>
          </a:p>
        </p:txBody>
      </p:sp>
      <p:sp>
        <p:nvSpPr>
          <p:cNvPr id="21" name="Text 19"/>
          <p:cNvSpPr/>
          <p:nvPr/>
        </p:nvSpPr>
        <p:spPr>
          <a:xfrm>
            <a:off x="6519672" y="3300984"/>
            <a:ext cx="1920240" cy="274320"/>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Minimalismus</a:t>
            </a:r>
            <a:endParaRPr lang="en-US" sz="1750" dirty="0"/>
          </a:p>
        </p:txBody>
      </p:sp>
      <p:sp>
        <p:nvSpPr>
          <p:cNvPr id="22" name="Text 20"/>
          <p:cNvSpPr/>
          <p:nvPr/>
        </p:nvSpPr>
        <p:spPr>
          <a:xfrm>
            <a:off x="6519672" y="3630168"/>
            <a:ext cx="4572000" cy="320040"/>
          </a:xfrm>
          <a:prstGeom prst="rect">
            <a:avLst/>
          </a:prstGeom>
          <a:noFill/>
          <a:ln/>
        </p:spPr>
        <p:txBody>
          <a:bodyPr wrap="square" lIns="0" tIns="0" rIns="0" bIns="0" rtlCol="0" anchor="ctr">
            <a:normAutofit/>
          </a:bodyPr>
          <a:lstStyle/>
          <a:p>
            <a:pPr marL="0" indent="0">
              <a:buNone/>
            </a:pPr>
            <a:r>
              <a:rPr lang="en-US" sz="1480" dirty="0">
                <a:solidFill>
                  <a:srgbClr val="475569"/>
                </a:solidFill>
                <a:latin typeface="Aptos" pitchFamily="34" charset="0"/>
                <a:ea typeface="Aptos" pitchFamily="34" charset="-122"/>
                <a:cs typeface="Aptos" pitchFamily="34" charset="-120"/>
              </a:rPr>
              <a:t>nicht überladen, keine Ablenkung</a:t>
            </a:r>
            <a:endParaRPr lang="en-US" sz="1480" dirty="0"/>
          </a:p>
        </p:txBody>
      </p:sp>
      <p:sp>
        <p:nvSpPr>
          <p:cNvPr id="23" name="Text 21"/>
          <p:cNvSpPr/>
          <p:nvPr/>
        </p:nvSpPr>
        <p:spPr>
          <a:xfrm>
            <a:off x="868680" y="4261104"/>
            <a:ext cx="292608" cy="292608"/>
          </a:xfrm>
          <a:prstGeom prst="rect">
            <a:avLst/>
          </a:prstGeom>
          <a:noFill/>
          <a:ln/>
        </p:spPr>
        <p:txBody>
          <a:bodyPr wrap="square" lIns="0" tIns="0" rIns="0" bIns="0" rtlCol="0" anchor="ctr"/>
          <a:lstStyle/>
          <a:p>
            <a:pPr marL="0" indent="0">
              <a:buNone/>
            </a:pPr>
            <a:r>
              <a:rPr lang="en-US" sz="1800" b="1" dirty="0">
                <a:solidFill>
                  <a:srgbClr val="0F766E"/>
                </a:solidFill>
                <a:latin typeface="Aptos" pitchFamily="34" charset="0"/>
                <a:ea typeface="Aptos" pitchFamily="34" charset="-122"/>
                <a:cs typeface="Aptos" pitchFamily="34" charset="-120"/>
              </a:rPr>
              <a:t>✓</a:t>
            </a:r>
            <a:endParaRPr lang="en-US" sz="1800" dirty="0"/>
          </a:p>
        </p:txBody>
      </p:sp>
      <p:sp>
        <p:nvSpPr>
          <p:cNvPr id="24" name="Text 22"/>
          <p:cNvSpPr/>
          <p:nvPr/>
        </p:nvSpPr>
        <p:spPr>
          <a:xfrm>
            <a:off x="1216152" y="4242816"/>
            <a:ext cx="1920240" cy="274320"/>
          </a:xfrm>
          <a:prstGeom prst="rect">
            <a:avLst/>
          </a:prstGeom>
          <a:noFill/>
          <a:ln/>
        </p:spPr>
        <p:txBody>
          <a:bodyPr wrap="square" lIns="0" tIns="0" rIns="0" bIns="0" rtlCol="0" anchor="ctr"/>
          <a:lstStyle/>
          <a:p>
            <a:pPr marL="0" indent="0">
              <a:buNone/>
            </a:pPr>
            <a:r>
              <a:rPr lang="en-US" sz="1750" b="1" dirty="0">
                <a:solidFill>
                  <a:srgbClr val="111827"/>
                </a:solidFill>
                <a:latin typeface="Aptos" pitchFamily="34" charset="0"/>
                <a:ea typeface="Aptos" pitchFamily="34" charset="-122"/>
                <a:cs typeface="Aptos" pitchFamily="34" charset="-120"/>
              </a:rPr>
              <a:t>Nutzerkontrolle</a:t>
            </a:r>
            <a:endParaRPr lang="en-US" sz="1750" dirty="0"/>
          </a:p>
        </p:txBody>
      </p:sp>
      <p:sp>
        <p:nvSpPr>
          <p:cNvPr id="25" name="Text 23"/>
          <p:cNvSpPr/>
          <p:nvPr/>
        </p:nvSpPr>
        <p:spPr>
          <a:xfrm>
            <a:off x="1216152" y="4572000"/>
            <a:ext cx="4572000" cy="320040"/>
          </a:xfrm>
          <a:prstGeom prst="rect">
            <a:avLst/>
          </a:prstGeom>
          <a:noFill/>
          <a:ln/>
        </p:spPr>
        <p:txBody>
          <a:bodyPr wrap="square" lIns="0" tIns="0" rIns="0" bIns="0" rtlCol="0" anchor="ctr">
            <a:normAutofit/>
          </a:bodyPr>
          <a:lstStyle/>
          <a:p>
            <a:pPr marL="0" indent="0">
              <a:buNone/>
            </a:pPr>
            <a:r>
              <a:rPr lang="en-US" sz="1480" dirty="0">
                <a:solidFill>
                  <a:srgbClr val="475569"/>
                </a:solidFill>
                <a:latin typeface="Aptos" pitchFamily="34" charset="0"/>
                <a:ea typeface="Aptos" pitchFamily="34" charset="-122"/>
                <a:cs typeface="Aptos" pitchFamily="34" charset="-120"/>
              </a:rPr>
              <a:t>Abbrechen, zurückgehen, Einstellungen</a:t>
            </a:r>
            <a:endParaRPr lang="en-US" sz="1480" dirty="0"/>
          </a:p>
        </p:txBody>
      </p:sp>
      <p:sp>
        <p:nvSpPr>
          <p:cNvPr id="26" name="Text 24"/>
          <p:cNvSpPr/>
          <p:nvPr/>
        </p:nvSpPr>
        <p:spPr>
          <a:xfrm>
            <a:off x="1005840" y="5705856"/>
            <a:ext cx="10058400" cy="347472"/>
          </a:xfrm>
          <a:prstGeom prst="rect">
            <a:avLst/>
          </a:prstGeom>
          <a:noFill/>
          <a:ln/>
        </p:spPr>
        <p:txBody>
          <a:bodyPr wrap="square" lIns="0" tIns="0" rIns="0" bIns="0" rtlCol="0" anchor="ctr"/>
          <a:lstStyle/>
          <a:p>
            <a:pPr marL="0" indent="0" algn="ctr">
              <a:buNone/>
            </a:pPr>
            <a:r>
              <a:rPr lang="en-US" sz="1850" b="1" dirty="0">
                <a:solidFill>
                  <a:srgbClr val="111827"/>
                </a:solidFill>
                <a:latin typeface="Aptos" pitchFamily="34" charset="0"/>
                <a:ea typeface="Aptos" pitchFamily="34" charset="-122"/>
                <a:cs typeface="Aptos" pitchFamily="34" charset="-120"/>
              </a:rPr>
              <a:t>Nutze die Checkliste als Suchhilfe – die Bewertung begründest du mit ISO oder Nielsen.</a:t>
            </a:r>
            <a:endParaRPr lang="en-US" sz="1850" dirty="0"/>
          </a:p>
        </p:txBody>
      </p:sp>
      <p:sp>
        <p:nvSpPr>
          <p:cNvPr id="27" name="Text 25"/>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8" name="Text 26"/>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09</a:t>
            </a:r>
            <a:endParaRPr lang="en-US" sz="850" dirty="0"/>
          </a:p>
        </p:txBody>
      </p:sp>
      <p:sp>
        <p:nvSpPr>
          <p:cNvPr id="29" name="Text 27"/>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Arbeitsblatt-Bezug: Usability-Checkliste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DEMO</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Beispiel: Finding aus einem Shop</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822960" y="1417320"/>
            <a:ext cx="3063240" cy="388620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6" name="Shape 4"/>
          <p:cNvSpPr/>
          <p:nvPr/>
        </p:nvSpPr>
        <p:spPr>
          <a:xfrm>
            <a:off x="822960" y="1417320"/>
            <a:ext cx="73152" cy="3886200"/>
          </a:xfrm>
          <a:prstGeom prst="rect">
            <a:avLst/>
          </a:prstGeom>
          <a:solidFill>
            <a:srgbClr val="0F766E"/>
          </a:solidFill>
          <a:ln w="12700">
            <a:solidFill>
              <a:srgbClr val="0F766E">
                <a:alpha val="0"/>
              </a:srgbClr>
            </a:solidFill>
            <a:prstDash val="solid"/>
          </a:ln>
        </p:spPr>
      </p:sp>
      <p:sp>
        <p:nvSpPr>
          <p:cNvPr id="7" name="Text 5"/>
          <p:cNvSpPr/>
          <p:nvPr/>
        </p:nvSpPr>
        <p:spPr>
          <a:xfrm>
            <a:off x="1042416" y="1600200"/>
            <a:ext cx="262432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Ausgangslage</a:t>
            </a:r>
            <a:endParaRPr lang="en-US" sz="2000" dirty="0"/>
          </a:p>
        </p:txBody>
      </p:sp>
      <p:sp>
        <p:nvSpPr>
          <p:cNvPr id="8" name="Text 6"/>
          <p:cNvSpPr/>
          <p:nvPr/>
        </p:nvSpPr>
        <p:spPr>
          <a:xfrm>
            <a:off x="1042416" y="2020824"/>
            <a:ext cx="2624328" cy="3118104"/>
          </a:xfrm>
          <a:prstGeom prst="rect">
            <a:avLst/>
          </a:prstGeom>
          <a:noFill/>
          <a:ln/>
        </p:spPr>
        <p:txBody>
          <a:bodyPr wrap="square" lIns="0" tIns="0" rIns="0" bIns="0" rtlCol="0" anchor="t">
            <a:normAutofit/>
          </a:bodyPr>
          <a:lstStyle/>
          <a:p>
            <a:pPr marL="0" indent="0">
              <a:buNone/>
            </a:pPr>
            <a:r>
              <a:rPr lang="en-US" sz="1700" dirty="0">
                <a:solidFill>
                  <a:srgbClr val="475569"/>
                </a:solidFill>
                <a:latin typeface="Aptos" pitchFamily="34" charset="0"/>
                <a:ea typeface="Aptos" pitchFamily="34" charset="-122"/>
                <a:cs typeface="Aptos" pitchFamily="34" charset="-120"/>
              </a:rPr>
              <a:t>Tkinter-Shop mit Produktliste, Warenkorb, Entfernen-Funktion und Checkout.</a:t>
            </a:r>
            <a:endParaRPr lang="en-US" sz="1700" dirty="0"/>
          </a:p>
          <a:p>
            <a:pPr marL="0" indent="0">
              <a:buNone/>
            </a:pPr>
            <a:endParaRPr lang="en-US" sz="1700" dirty="0"/>
          </a:p>
          <a:p>
            <a:pPr marL="0" indent="0">
              <a:buNone/>
            </a:pPr>
            <a:r>
              <a:rPr lang="en-US" sz="1700" dirty="0">
                <a:solidFill>
                  <a:srgbClr val="475569"/>
                </a:solidFill>
                <a:latin typeface="Aptos" pitchFamily="34" charset="0"/>
                <a:ea typeface="Aptos" pitchFamily="34" charset="-122"/>
                <a:cs typeface="Aptos" pitchFamily="34" charset="-120"/>
              </a:rPr>
              <a:t>Begriffe wie „Warenkorb“ und „Zur Kasse“ sind verständlich.</a:t>
            </a:r>
            <a:endParaRPr lang="en-US" sz="1700" dirty="0"/>
          </a:p>
        </p:txBody>
      </p:sp>
      <p:sp>
        <p:nvSpPr>
          <p:cNvPr id="9" name="Text 7"/>
          <p:cNvSpPr/>
          <p:nvPr/>
        </p:nvSpPr>
        <p:spPr>
          <a:xfrm>
            <a:off x="4251960" y="1417320"/>
            <a:ext cx="3154680" cy="388620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0" name="Shape 8"/>
          <p:cNvSpPr/>
          <p:nvPr/>
        </p:nvSpPr>
        <p:spPr>
          <a:xfrm>
            <a:off x="4251960" y="1417320"/>
            <a:ext cx="73152" cy="3886200"/>
          </a:xfrm>
          <a:prstGeom prst="rect">
            <a:avLst/>
          </a:prstGeom>
          <a:solidFill>
            <a:srgbClr val="2563EB"/>
          </a:solidFill>
          <a:ln w="12700">
            <a:solidFill>
              <a:srgbClr val="2563EB">
                <a:alpha val="0"/>
              </a:srgbClr>
            </a:solidFill>
            <a:prstDash val="solid"/>
          </a:ln>
        </p:spPr>
      </p:sp>
      <p:sp>
        <p:nvSpPr>
          <p:cNvPr id="11" name="Text 9"/>
          <p:cNvSpPr/>
          <p:nvPr/>
        </p:nvSpPr>
        <p:spPr>
          <a:xfrm>
            <a:off x="4471416" y="1600200"/>
            <a:ext cx="271576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Beobachtung</a:t>
            </a:r>
            <a:endParaRPr lang="en-US" sz="2000" dirty="0"/>
          </a:p>
        </p:txBody>
      </p:sp>
      <p:sp>
        <p:nvSpPr>
          <p:cNvPr id="12" name="Text 10"/>
          <p:cNvSpPr/>
          <p:nvPr/>
        </p:nvSpPr>
        <p:spPr>
          <a:xfrm>
            <a:off x="4471416" y="2020824"/>
            <a:ext cx="2715768" cy="3118104"/>
          </a:xfrm>
          <a:prstGeom prst="rect">
            <a:avLst/>
          </a:prstGeom>
          <a:noFill/>
          <a:ln/>
        </p:spPr>
        <p:txBody>
          <a:bodyPr wrap="square" lIns="0" tIns="0" rIns="0" bIns="0" rtlCol="0" anchor="t">
            <a:normAutofit/>
          </a:bodyPr>
          <a:lstStyle/>
          <a:p>
            <a:pPr marL="0" indent="0">
              <a:buNone/>
            </a:pPr>
            <a:r>
              <a:rPr lang="en-US" sz="1700" dirty="0">
                <a:solidFill>
                  <a:srgbClr val="475569"/>
                </a:solidFill>
                <a:latin typeface="Aptos" pitchFamily="34" charset="0"/>
                <a:ea typeface="Aptos" pitchFamily="34" charset="-122"/>
                <a:cs typeface="Aptos" pitchFamily="34" charset="-120"/>
              </a:rPr>
              <a:t>Beim Hinzufügen gibt es Rückmeldung.</a:t>
            </a:r>
            <a:endParaRPr lang="en-US" sz="1700" dirty="0"/>
          </a:p>
          <a:p>
            <a:pPr marL="0" indent="0">
              <a:buNone/>
            </a:pPr>
            <a:endParaRPr lang="en-US" sz="1700" dirty="0"/>
          </a:p>
          <a:p>
            <a:pPr marL="0" indent="0">
              <a:buNone/>
            </a:pPr>
            <a:r>
              <a:rPr lang="en-US" sz="1700" dirty="0">
                <a:solidFill>
                  <a:srgbClr val="475569"/>
                </a:solidFill>
                <a:latin typeface="Aptos" pitchFamily="34" charset="0"/>
                <a:ea typeface="Aptos" pitchFamily="34" charset="-122"/>
                <a:cs typeface="Aptos" pitchFamily="34" charset="-120"/>
              </a:rPr>
              <a:t>Noch besser wäre eine klare visuelle Bestätigung, z. B. kurzer Hinweis oder Animation.</a:t>
            </a:r>
            <a:endParaRPr lang="en-US" sz="1700" dirty="0"/>
          </a:p>
        </p:txBody>
      </p:sp>
      <p:sp>
        <p:nvSpPr>
          <p:cNvPr id="13" name="Text 11"/>
          <p:cNvSpPr/>
          <p:nvPr/>
        </p:nvSpPr>
        <p:spPr>
          <a:xfrm>
            <a:off x="7772400" y="1417320"/>
            <a:ext cx="3246120" cy="388620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4" name="Shape 12"/>
          <p:cNvSpPr/>
          <p:nvPr/>
        </p:nvSpPr>
        <p:spPr>
          <a:xfrm>
            <a:off x="7772400" y="1417320"/>
            <a:ext cx="73152" cy="3886200"/>
          </a:xfrm>
          <a:prstGeom prst="rect">
            <a:avLst/>
          </a:prstGeom>
          <a:solidFill>
            <a:srgbClr val="F59E0B"/>
          </a:solidFill>
          <a:ln w="12700">
            <a:solidFill>
              <a:srgbClr val="F59E0B">
                <a:alpha val="0"/>
              </a:srgbClr>
            </a:solidFill>
            <a:prstDash val="solid"/>
          </a:ln>
        </p:spPr>
      </p:sp>
      <p:sp>
        <p:nvSpPr>
          <p:cNvPr id="15" name="Text 13"/>
          <p:cNvSpPr/>
          <p:nvPr/>
        </p:nvSpPr>
        <p:spPr>
          <a:xfrm>
            <a:off x="7991856" y="1600200"/>
            <a:ext cx="2807208" cy="310896"/>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Regel + Fix</a:t>
            </a:r>
            <a:endParaRPr lang="en-US" sz="2000" dirty="0"/>
          </a:p>
        </p:txBody>
      </p:sp>
      <p:sp>
        <p:nvSpPr>
          <p:cNvPr id="16" name="Text 14"/>
          <p:cNvSpPr/>
          <p:nvPr/>
        </p:nvSpPr>
        <p:spPr>
          <a:xfrm>
            <a:off x="7991856" y="2020824"/>
            <a:ext cx="2807208" cy="3118104"/>
          </a:xfrm>
          <a:prstGeom prst="rect">
            <a:avLst/>
          </a:prstGeom>
          <a:noFill/>
          <a:ln/>
        </p:spPr>
        <p:txBody>
          <a:bodyPr wrap="square" lIns="0" tIns="0" rIns="0" bIns="0" rtlCol="0" anchor="t">
            <a:normAutofit/>
          </a:bodyPr>
          <a:lstStyle/>
          <a:p>
            <a:pPr marL="0" indent="0">
              <a:buNone/>
            </a:pPr>
            <a:r>
              <a:rPr lang="en-US" sz="1700" dirty="0">
                <a:solidFill>
                  <a:srgbClr val="475569"/>
                </a:solidFill>
                <a:latin typeface="Aptos" pitchFamily="34" charset="0"/>
                <a:ea typeface="Aptos" pitchFamily="34" charset="-122"/>
                <a:cs typeface="Aptos" pitchFamily="34" charset="-120"/>
              </a:rPr>
              <a:t>Heuristik: Sichtbarkeit des Systemstatus.</a:t>
            </a:r>
            <a:endParaRPr lang="en-US" sz="1700" dirty="0"/>
          </a:p>
          <a:p>
            <a:pPr marL="0" indent="0">
              <a:buNone/>
            </a:pPr>
            <a:endParaRPr lang="en-US" sz="1700" dirty="0"/>
          </a:p>
          <a:p>
            <a:pPr marL="0" indent="0">
              <a:buNone/>
            </a:pPr>
            <a:r>
              <a:rPr lang="en-US" sz="1700" dirty="0">
                <a:solidFill>
                  <a:srgbClr val="475569"/>
                </a:solidFill>
                <a:latin typeface="Aptos" pitchFamily="34" charset="0"/>
                <a:ea typeface="Aptos" pitchFamily="34" charset="-122"/>
                <a:cs typeface="Aptos" pitchFamily="34" charset="-120"/>
              </a:rPr>
              <a:t>Fix: Nach „Hinzufügen“ erscheint „Artikel im Warenkorb“ für 2 Sekunden.</a:t>
            </a:r>
            <a:endParaRPr lang="en-US" sz="1700" dirty="0"/>
          </a:p>
        </p:txBody>
      </p:sp>
      <p:sp>
        <p:nvSpPr>
          <p:cNvPr id="17" name="Text 15"/>
          <p:cNvSpPr/>
          <p:nvPr/>
        </p:nvSpPr>
        <p:spPr>
          <a:xfrm>
            <a:off x="914400" y="5650992"/>
            <a:ext cx="10149840" cy="329184"/>
          </a:xfrm>
          <a:prstGeom prst="rect">
            <a:avLst/>
          </a:prstGeom>
          <a:noFill/>
          <a:ln/>
        </p:spPr>
        <p:txBody>
          <a:bodyPr wrap="square" lIns="0" tIns="0" rIns="0" bIns="0" rtlCol="0" anchor="ctr"/>
          <a:lstStyle/>
          <a:p>
            <a:pPr marL="0" indent="0" algn="ctr">
              <a:buNone/>
            </a:pPr>
            <a:r>
              <a:rPr lang="en-US" sz="1950" b="1" dirty="0">
                <a:solidFill>
                  <a:srgbClr val="111827"/>
                </a:solidFill>
                <a:latin typeface="Aptos" pitchFamily="34" charset="0"/>
                <a:ea typeface="Aptos" pitchFamily="34" charset="-122"/>
                <a:cs typeface="Aptos" pitchFamily="34" charset="-120"/>
              </a:rPr>
              <a:t>Demo-Prinzip: klein anfangen, sauber begründen, konkret verbessern.</a:t>
            </a:r>
            <a:endParaRPr lang="en-US" sz="1950" dirty="0"/>
          </a:p>
        </p:txBody>
      </p:sp>
      <p:sp>
        <p:nvSpPr>
          <p:cNvPr id="18" name="Text 16"/>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19" name="Text 17"/>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10</a:t>
            </a:r>
            <a:endParaRPr lang="en-US" sz="850" dirty="0"/>
          </a:p>
        </p:txBody>
      </p:sp>
      <p:sp>
        <p:nvSpPr>
          <p:cNvPr id="20" name="Text 18"/>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Beispiel: Shop mit Warenkorb</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METHODE</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So dokumentierst du ein Finding</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685800" y="1444752"/>
            <a:ext cx="3401568" cy="1261872"/>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6" name="Shape 4"/>
          <p:cNvSpPr/>
          <p:nvPr/>
        </p:nvSpPr>
        <p:spPr>
          <a:xfrm>
            <a:off x="685800" y="1444752"/>
            <a:ext cx="73152" cy="1261872"/>
          </a:xfrm>
          <a:prstGeom prst="rect">
            <a:avLst/>
          </a:prstGeom>
          <a:solidFill>
            <a:srgbClr val="0F766E"/>
          </a:solidFill>
          <a:ln w="12700">
            <a:solidFill>
              <a:srgbClr val="0F766E">
                <a:alpha val="0"/>
              </a:srgbClr>
            </a:solidFill>
            <a:prstDash val="solid"/>
          </a:ln>
        </p:spPr>
      </p:sp>
      <p:sp>
        <p:nvSpPr>
          <p:cNvPr id="7" name="Text 5"/>
          <p:cNvSpPr/>
          <p:nvPr/>
        </p:nvSpPr>
        <p:spPr>
          <a:xfrm>
            <a:off x="905256" y="1627632"/>
            <a:ext cx="2962656"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Problem</a:t>
            </a:r>
            <a:endParaRPr lang="en-US" sz="1900" dirty="0"/>
          </a:p>
        </p:txBody>
      </p:sp>
      <p:sp>
        <p:nvSpPr>
          <p:cNvPr id="8" name="Text 6"/>
          <p:cNvSpPr/>
          <p:nvPr/>
        </p:nvSpPr>
        <p:spPr>
          <a:xfrm>
            <a:off x="905256" y="2048256"/>
            <a:ext cx="2962656" cy="493776"/>
          </a:xfrm>
          <a:prstGeom prst="rect">
            <a:avLst/>
          </a:prstGeom>
          <a:noFill/>
          <a:ln/>
        </p:spPr>
        <p:txBody>
          <a:bodyPr wrap="square" lIns="0" tIns="0" rIns="0" bIns="0" rtlCol="0" anchor="t">
            <a:normAutofit/>
          </a:bodyPr>
          <a:lstStyle/>
          <a:p>
            <a:pPr marL="0" indent="0">
              <a:buNone/>
            </a:pPr>
            <a:r>
              <a:rPr lang="en-US" sz="1560" dirty="0">
                <a:solidFill>
                  <a:srgbClr val="475569"/>
                </a:solidFill>
                <a:latin typeface="Aptos" pitchFamily="34" charset="0"/>
                <a:ea typeface="Aptos" pitchFamily="34" charset="-122"/>
                <a:cs typeface="Aptos" pitchFamily="34" charset="-120"/>
              </a:rPr>
              <a:t>Was ist beobachtbar falsch oder schwierig?</a:t>
            </a:r>
            <a:endParaRPr lang="en-US" sz="1560" dirty="0"/>
          </a:p>
        </p:txBody>
      </p:sp>
      <p:sp>
        <p:nvSpPr>
          <p:cNvPr id="9" name="Text 7"/>
          <p:cNvSpPr/>
          <p:nvPr/>
        </p:nvSpPr>
        <p:spPr>
          <a:xfrm>
            <a:off x="4471416" y="1444752"/>
            <a:ext cx="3401568" cy="1261872"/>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0" name="Shape 8"/>
          <p:cNvSpPr/>
          <p:nvPr/>
        </p:nvSpPr>
        <p:spPr>
          <a:xfrm>
            <a:off x="4471416" y="1444752"/>
            <a:ext cx="73152" cy="1261872"/>
          </a:xfrm>
          <a:prstGeom prst="rect">
            <a:avLst/>
          </a:prstGeom>
          <a:solidFill>
            <a:srgbClr val="2563EB"/>
          </a:solidFill>
          <a:ln w="12700">
            <a:solidFill>
              <a:srgbClr val="2563EB">
                <a:alpha val="0"/>
              </a:srgbClr>
            </a:solidFill>
            <a:prstDash val="solid"/>
          </a:ln>
        </p:spPr>
      </p:sp>
      <p:sp>
        <p:nvSpPr>
          <p:cNvPr id="11" name="Text 9"/>
          <p:cNvSpPr/>
          <p:nvPr/>
        </p:nvSpPr>
        <p:spPr>
          <a:xfrm>
            <a:off x="4690872" y="1627632"/>
            <a:ext cx="2962656"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Ort</a:t>
            </a:r>
            <a:endParaRPr lang="en-US" sz="1900" dirty="0"/>
          </a:p>
        </p:txBody>
      </p:sp>
      <p:sp>
        <p:nvSpPr>
          <p:cNvPr id="12" name="Text 10"/>
          <p:cNvSpPr/>
          <p:nvPr/>
        </p:nvSpPr>
        <p:spPr>
          <a:xfrm>
            <a:off x="4690872" y="2048256"/>
            <a:ext cx="2962656" cy="493776"/>
          </a:xfrm>
          <a:prstGeom prst="rect">
            <a:avLst/>
          </a:prstGeom>
          <a:noFill/>
          <a:ln/>
        </p:spPr>
        <p:txBody>
          <a:bodyPr wrap="square" lIns="0" tIns="0" rIns="0" bIns="0" rtlCol="0" anchor="t">
            <a:normAutofit/>
          </a:bodyPr>
          <a:lstStyle/>
          <a:p>
            <a:pPr marL="0" indent="0">
              <a:buNone/>
            </a:pPr>
            <a:r>
              <a:rPr lang="en-US" sz="1560" dirty="0">
                <a:solidFill>
                  <a:srgbClr val="475569"/>
                </a:solidFill>
                <a:latin typeface="Aptos" pitchFamily="34" charset="0"/>
                <a:ea typeface="Aptos" pitchFamily="34" charset="-122"/>
                <a:cs typeface="Aptos" pitchFamily="34" charset="-120"/>
              </a:rPr>
              <a:t>Wo genau tritt es auf?</a:t>
            </a:r>
            <a:endParaRPr lang="en-US" sz="1560" dirty="0"/>
          </a:p>
        </p:txBody>
      </p:sp>
      <p:sp>
        <p:nvSpPr>
          <p:cNvPr id="13" name="Text 11"/>
          <p:cNvSpPr/>
          <p:nvPr/>
        </p:nvSpPr>
        <p:spPr>
          <a:xfrm>
            <a:off x="8257032" y="1444752"/>
            <a:ext cx="3401568" cy="1261872"/>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4" name="Shape 12"/>
          <p:cNvSpPr/>
          <p:nvPr/>
        </p:nvSpPr>
        <p:spPr>
          <a:xfrm>
            <a:off x="8257032" y="1444752"/>
            <a:ext cx="73152" cy="1261872"/>
          </a:xfrm>
          <a:prstGeom prst="rect">
            <a:avLst/>
          </a:prstGeom>
          <a:solidFill>
            <a:srgbClr val="F59E0B"/>
          </a:solidFill>
          <a:ln w="12700">
            <a:solidFill>
              <a:srgbClr val="F59E0B">
                <a:alpha val="0"/>
              </a:srgbClr>
            </a:solidFill>
            <a:prstDash val="solid"/>
          </a:ln>
        </p:spPr>
      </p:sp>
      <p:sp>
        <p:nvSpPr>
          <p:cNvPr id="15" name="Text 13"/>
          <p:cNvSpPr/>
          <p:nvPr/>
        </p:nvSpPr>
        <p:spPr>
          <a:xfrm>
            <a:off x="8476488" y="1627632"/>
            <a:ext cx="2962656"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Regel</a:t>
            </a:r>
            <a:endParaRPr lang="en-US" sz="1900" dirty="0"/>
          </a:p>
        </p:txBody>
      </p:sp>
      <p:sp>
        <p:nvSpPr>
          <p:cNvPr id="16" name="Text 14"/>
          <p:cNvSpPr/>
          <p:nvPr/>
        </p:nvSpPr>
        <p:spPr>
          <a:xfrm>
            <a:off x="8476488" y="2048256"/>
            <a:ext cx="2962656" cy="493776"/>
          </a:xfrm>
          <a:prstGeom prst="rect">
            <a:avLst/>
          </a:prstGeom>
          <a:noFill/>
          <a:ln/>
        </p:spPr>
        <p:txBody>
          <a:bodyPr wrap="square" lIns="0" tIns="0" rIns="0" bIns="0" rtlCol="0" anchor="t">
            <a:normAutofit/>
          </a:bodyPr>
          <a:lstStyle/>
          <a:p>
            <a:pPr marL="0" indent="0">
              <a:buNone/>
            </a:pPr>
            <a:r>
              <a:rPr lang="en-US" sz="1560" dirty="0">
                <a:solidFill>
                  <a:srgbClr val="475569"/>
                </a:solidFill>
                <a:latin typeface="Aptos" pitchFamily="34" charset="0"/>
                <a:ea typeface="Aptos" pitchFamily="34" charset="-122"/>
                <a:cs typeface="Aptos" pitchFamily="34" charset="-120"/>
              </a:rPr>
              <a:t>Welche ISO-Regel oder Heuristik passt?</a:t>
            </a:r>
            <a:endParaRPr lang="en-US" sz="1560" dirty="0"/>
          </a:p>
        </p:txBody>
      </p:sp>
      <p:sp>
        <p:nvSpPr>
          <p:cNvPr id="17" name="Text 15"/>
          <p:cNvSpPr/>
          <p:nvPr/>
        </p:nvSpPr>
        <p:spPr>
          <a:xfrm>
            <a:off x="685800" y="3273552"/>
            <a:ext cx="3401568" cy="1261872"/>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8" name="Shape 16"/>
          <p:cNvSpPr/>
          <p:nvPr/>
        </p:nvSpPr>
        <p:spPr>
          <a:xfrm>
            <a:off x="685800" y="3273552"/>
            <a:ext cx="73152" cy="1261872"/>
          </a:xfrm>
          <a:prstGeom prst="rect">
            <a:avLst/>
          </a:prstGeom>
          <a:solidFill>
            <a:srgbClr val="6D28D9"/>
          </a:solidFill>
          <a:ln w="12700">
            <a:solidFill>
              <a:srgbClr val="6D28D9">
                <a:alpha val="0"/>
              </a:srgbClr>
            </a:solidFill>
            <a:prstDash val="solid"/>
          </a:ln>
        </p:spPr>
      </p:sp>
      <p:sp>
        <p:nvSpPr>
          <p:cNvPr id="19" name="Text 17"/>
          <p:cNvSpPr/>
          <p:nvPr/>
        </p:nvSpPr>
        <p:spPr>
          <a:xfrm>
            <a:off x="905256" y="3456432"/>
            <a:ext cx="2962656"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Auswirkung</a:t>
            </a:r>
            <a:endParaRPr lang="en-US" sz="1900" dirty="0"/>
          </a:p>
        </p:txBody>
      </p:sp>
      <p:sp>
        <p:nvSpPr>
          <p:cNvPr id="20" name="Text 18"/>
          <p:cNvSpPr/>
          <p:nvPr/>
        </p:nvSpPr>
        <p:spPr>
          <a:xfrm>
            <a:off x="905256" y="3877056"/>
            <a:ext cx="2962656" cy="493776"/>
          </a:xfrm>
          <a:prstGeom prst="rect">
            <a:avLst/>
          </a:prstGeom>
          <a:noFill/>
          <a:ln/>
        </p:spPr>
        <p:txBody>
          <a:bodyPr wrap="square" lIns="0" tIns="0" rIns="0" bIns="0" rtlCol="0" anchor="t">
            <a:normAutofit/>
          </a:bodyPr>
          <a:lstStyle/>
          <a:p>
            <a:pPr marL="0" indent="0">
              <a:buNone/>
            </a:pPr>
            <a:r>
              <a:rPr lang="en-US" sz="1560" dirty="0">
                <a:solidFill>
                  <a:srgbClr val="475569"/>
                </a:solidFill>
                <a:latin typeface="Aptos" pitchFamily="34" charset="0"/>
                <a:ea typeface="Aptos" pitchFamily="34" charset="-122"/>
                <a:cs typeface="Aptos" pitchFamily="34" charset="-120"/>
              </a:rPr>
              <a:t>Was bedeutet es für die Nutzer:innen?</a:t>
            </a:r>
            <a:endParaRPr lang="en-US" sz="1560" dirty="0"/>
          </a:p>
        </p:txBody>
      </p:sp>
      <p:sp>
        <p:nvSpPr>
          <p:cNvPr id="21" name="Text 19"/>
          <p:cNvSpPr/>
          <p:nvPr/>
        </p:nvSpPr>
        <p:spPr>
          <a:xfrm>
            <a:off x="4471416" y="3273552"/>
            <a:ext cx="3401568" cy="1261872"/>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22" name="Shape 20"/>
          <p:cNvSpPr/>
          <p:nvPr/>
        </p:nvSpPr>
        <p:spPr>
          <a:xfrm>
            <a:off x="4471416" y="3273552"/>
            <a:ext cx="73152" cy="1261872"/>
          </a:xfrm>
          <a:prstGeom prst="rect">
            <a:avLst/>
          </a:prstGeom>
          <a:solidFill>
            <a:srgbClr val="166534"/>
          </a:solidFill>
          <a:ln w="12700">
            <a:solidFill>
              <a:srgbClr val="166534">
                <a:alpha val="0"/>
              </a:srgbClr>
            </a:solidFill>
            <a:prstDash val="solid"/>
          </a:ln>
        </p:spPr>
      </p:sp>
      <p:sp>
        <p:nvSpPr>
          <p:cNvPr id="23" name="Text 21"/>
          <p:cNvSpPr/>
          <p:nvPr/>
        </p:nvSpPr>
        <p:spPr>
          <a:xfrm>
            <a:off x="4690872" y="3456432"/>
            <a:ext cx="2962656"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Fix</a:t>
            </a:r>
            <a:endParaRPr lang="en-US" sz="1900" dirty="0"/>
          </a:p>
        </p:txBody>
      </p:sp>
      <p:sp>
        <p:nvSpPr>
          <p:cNvPr id="24" name="Text 22"/>
          <p:cNvSpPr/>
          <p:nvPr/>
        </p:nvSpPr>
        <p:spPr>
          <a:xfrm>
            <a:off x="4690872" y="3877056"/>
            <a:ext cx="2962656" cy="493776"/>
          </a:xfrm>
          <a:prstGeom prst="rect">
            <a:avLst/>
          </a:prstGeom>
          <a:noFill/>
          <a:ln/>
        </p:spPr>
        <p:txBody>
          <a:bodyPr wrap="square" lIns="0" tIns="0" rIns="0" bIns="0" rtlCol="0" anchor="t">
            <a:normAutofit/>
          </a:bodyPr>
          <a:lstStyle/>
          <a:p>
            <a:pPr marL="0" indent="0">
              <a:buNone/>
            </a:pPr>
            <a:r>
              <a:rPr lang="en-US" sz="1560" dirty="0">
                <a:solidFill>
                  <a:srgbClr val="475569"/>
                </a:solidFill>
                <a:latin typeface="Aptos" pitchFamily="34" charset="0"/>
                <a:ea typeface="Aptos" pitchFamily="34" charset="-122"/>
                <a:cs typeface="Aptos" pitchFamily="34" charset="-120"/>
              </a:rPr>
              <a:t>Welche kleine Änderung hilft?</a:t>
            </a:r>
            <a:endParaRPr lang="en-US" sz="1560" dirty="0"/>
          </a:p>
        </p:txBody>
      </p:sp>
      <p:sp>
        <p:nvSpPr>
          <p:cNvPr id="25" name="Text 23"/>
          <p:cNvSpPr/>
          <p:nvPr/>
        </p:nvSpPr>
        <p:spPr>
          <a:xfrm>
            <a:off x="8257032" y="3273552"/>
            <a:ext cx="3401568" cy="1261872"/>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26" name="Shape 24"/>
          <p:cNvSpPr/>
          <p:nvPr/>
        </p:nvSpPr>
        <p:spPr>
          <a:xfrm>
            <a:off x="8257032" y="3273552"/>
            <a:ext cx="73152" cy="1261872"/>
          </a:xfrm>
          <a:prstGeom prst="rect">
            <a:avLst/>
          </a:prstGeom>
          <a:solidFill>
            <a:srgbClr val="B91C1C"/>
          </a:solidFill>
          <a:ln w="12700">
            <a:solidFill>
              <a:srgbClr val="B91C1C">
                <a:alpha val="0"/>
              </a:srgbClr>
            </a:solidFill>
            <a:prstDash val="solid"/>
          </a:ln>
        </p:spPr>
      </p:sp>
      <p:sp>
        <p:nvSpPr>
          <p:cNvPr id="27" name="Text 25"/>
          <p:cNvSpPr/>
          <p:nvPr/>
        </p:nvSpPr>
        <p:spPr>
          <a:xfrm>
            <a:off x="8476488" y="3456432"/>
            <a:ext cx="2962656"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Beleg</a:t>
            </a:r>
            <a:endParaRPr lang="en-US" sz="1900" dirty="0"/>
          </a:p>
        </p:txBody>
      </p:sp>
      <p:sp>
        <p:nvSpPr>
          <p:cNvPr id="28" name="Text 26"/>
          <p:cNvSpPr/>
          <p:nvPr/>
        </p:nvSpPr>
        <p:spPr>
          <a:xfrm>
            <a:off x="8476488" y="3877056"/>
            <a:ext cx="2962656" cy="493776"/>
          </a:xfrm>
          <a:prstGeom prst="rect">
            <a:avLst/>
          </a:prstGeom>
          <a:noFill/>
          <a:ln/>
        </p:spPr>
        <p:txBody>
          <a:bodyPr wrap="square" lIns="0" tIns="0" rIns="0" bIns="0" rtlCol="0" anchor="t">
            <a:normAutofit/>
          </a:bodyPr>
          <a:lstStyle/>
          <a:p>
            <a:pPr marL="0" indent="0">
              <a:buNone/>
            </a:pPr>
            <a:r>
              <a:rPr lang="en-US" sz="1560" dirty="0">
                <a:solidFill>
                  <a:srgbClr val="475569"/>
                </a:solidFill>
                <a:latin typeface="Aptos" pitchFamily="34" charset="0"/>
                <a:ea typeface="Aptos" pitchFamily="34" charset="-122"/>
                <a:cs typeface="Aptos" pitchFamily="34" charset="-120"/>
              </a:rPr>
              <a:t>Screenshot, Markierung, Tabelle oder Skizze</a:t>
            </a:r>
            <a:endParaRPr lang="en-US" sz="1560" dirty="0"/>
          </a:p>
        </p:txBody>
      </p:sp>
      <p:sp>
        <p:nvSpPr>
          <p:cNvPr id="29" name="Text 27"/>
          <p:cNvSpPr/>
          <p:nvPr/>
        </p:nvSpPr>
        <p:spPr>
          <a:xfrm>
            <a:off x="1005840" y="5303520"/>
            <a:ext cx="10058400" cy="475488"/>
          </a:xfrm>
          <a:prstGeom prst="rect">
            <a:avLst/>
          </a:prstGeom>
          <a:noFill/>
          <a:ln/>
        </p:spPr>
        <p:txBody>
          <a:bodyPr wrap="square" lIns="0" tIns="0" rIns="0" bIns="0" rtlCol="0" anchor="ctr"/>
          <a:lstStyle/>
          <a:p>
            <a:pPr marL="0" indent="0" algn="ctr">
              <a:buNone/>
            </a:pPr>
            <a:r>
              <a:rPr lang="en-US" sz="2300" b="1" dirty="0">
                <a:solidFill>
                  <a:srgbClr val="111827"/>
                </a:solidFill>
                <a:latin typeface="Aptos Display" pitchFamily="34" charset="0"/>
                <a:ea typeface="Aptos Display" pitchFamily="34" charset="-122"/>
                <a:cs typeface="Aptos Display" pitchFamily="34" charset="-120"/>
              </a:rPr>
              <a:t>Formel: Problem + Ort + Regel + Wirkung + Fix + Beleg = nachvollziehbares Finding</a:t>
            </a:r>
            <a:endParaRPr lang="en-US" sz="2300" dirty="0"/>
          </a:p>
        </p:txBody>
      </p:sp>
      <p:sp>
        <p:nvSpPr>
          <p:cNvPr id="30" name="Text 28"/>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31" name="Text 29"/>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11</a:t>
            </a:r>
            <a:endParaRPr lang="en-US" sz="850" dirty="0"/>
          </a:p>
        </p:txBody>
      </p:sp>
      <p:sp>
        <p:nvSpPr>
          <p:cNvPr id="32" name="Text 30"/>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 Issue Log / Methode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ARBEITSAUFTRAG</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Arbeitsphase Woche 10: Evaluationsplan</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353312"/>
            <a:ext cx="1508760" cy="347472"/>
          </a:xfrm>
          <a:prstGeom prst="rect">
            <a:avLst/>
          </a:prstGeom>
          <a:solidFill>
            <a:srgbClr val="CCFBF1"/>
          </a:solidFill>
          <a:ln>
            <a:solidFill>
              <a:srgbClr val="CCFBF1">
                <a:alpha val="0"/>
              </a:srgbClr>
            </a:solidFill>
          </a:ln>
        </p:spPr>
        <p:txBody>
          <a:bodyPr wrap="square" lIns="635" tIns="1524" rIns="1524" bIns="635" rtlCol="0" anchor="ctr"/>
          <a:lstStyle/>
          <a:p>
            <a:pPr marL="0" indent="0" algn="ctr">
              <a:buNone/>
            </a:pPr>
            <a:r>
              <a:rPr lang="en-US" sz="1300" b="1" dirty="0">
                <a:solidFill>
                  <a:srgbClr val="0F766E"/>
                </a:solidFill>
                <a:latin typeface="Aptos" pitchFamily="34" charset="0"/>
                <a:ea typeface="Aptos" pitchFamily="34" charset="-122"/>
                <a:cs typeface="Aptos" pitchFamily="34" charset="-120"/>
              </a:rPr>
              <a:t>40–70 Minuten</a:t>
            </a:r>
            <a:endParaRPr lang="en-US" sz="1300" dirty="0"/>
          </a:p>
        </p:txBody>
      </p:sp>
      <p:sp>
        <p:nvSpPr>
          <p:cNvPr id="6" name="Text 4"/>
          <p:cNvSpPr/>
          <p:nvPr/>
        </p:nvSpPr>
        <p:spPr>
          <a:xfrm>
            <a:off x="914400" y="1828800"/>
            <a:ext cx="10058400" cy="384048"/>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Erstellt als Gruppe einen Plan, bevor ihr bewertet.</a:t>
            </a:r>
            <a:endParaRPr lang="en-US" sz="2500" dirty="0"/>
          </a:p>
        </p:txBody>
      </p:sp>
      <p:sp>
        <p:nvSpPr>
          <p:cNvPr id="7" name="Text 5"/>
          <p:cNvSpPr/>
          <p:nvPr/>
        </p:nvSpPr>
        <p:spPr>
          <a:xfrm>
            <a:off x="914400" y="2606040"/>
            <a:ext cx="384048" cy="237744"/>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1.</a:t>
            </a:r>
            <a:endParaRPr lang="en-US" sz="1600" dirty="0"/>
          </a:p>
        </p:txBody>
      </p:sp>
      <p:sp>
        <p:nvSpPr>
          <p:cNvPr id="8" name="Text 6"/>
          <p:cNvSpPr/>
          <p:nvPr/>
        </p:nvSpPr>
        <p:spPr>
          <a:xfrm>
            <a:off x="1335024" y="2606040"/>
            <a:ext cx="1234440" cy="237744"/>
          </a:xfrm>
          <a:prstGeom prst="rect">
            <a:avLst/>
          </a:prstGeom>
          <a:noFill/>
          <a:ln/>
        </p:spPr>
        <p:txBody>
          <a:bodyPr wrap="square" lIns="0" tIns="0" rIns="0" bIns="0" rtlCol="0" anchor="ctr"/>
          <a:lstStyle/>
          <a:p>
            <a:pPr marL="0" indent="0">
              <a:buNone/>
            </a:pPr>
            <a:r>
              <a:rPr lang="en-US" sz="1650" b="1" dirty="0">
                <a:solidFill>
                  <a:srgbClr val="111827"/>
                </a:solidFill>
                <a:latin typeface="Aptos" pitchFamily="34" charset="0"/>
                <a:ea typeface="Aptos" pitchFamily="34" charset="-122"/>
                <a:cs typeface="Aptos" pitchFamily="34" charset="-120"/>
              </a:rPr>
              <a:t>Produkt</a:t>
            </a:r>
            <a:endParaRPr lang="en-US" sz="1650" dirty="0"/>
          </a:p>
        </p:txBody>
      </p:sp>
      <p:sp>
        <p:nvSpPr>
          <p:cNvPr id="9" name="Text 7"/>
          <p:cNvSpPr/>
          <p:nvPr/>
        </p:nvSpPr>
        <p:spPr>
          <a:xfrm>
            <a:off x="2651760" y="2606040"/>
            <a:ext cx="3657600" cy="292608"/>
          </a:xfrm>
          <a:prstGeom prst="rect">
            <a:avLst/>
          </a:prstGeom>
          <a:noFill/>
          <a:ln/>
        </p:spPr>
        <p:txBody>
          <a:bodyPr wrap="square" lIns="0" tIns="0" rIns="0" bIns="0" rtlCol="0" anchor="ctr">
            <a:normAutofit/>
          </a:bodyPr>
          <a:lstStyle/>
          <a:p>
            <a:pPr marL="0" indent="0">
              <a:buNone/>
            </a:pPr>
            <a:r>
              <a:rPr lang="en-US" sz="1470" dirty="0">
                <a:solidFill>
                  <a:srgbClr val="475569"/>
                </a:solidFill>
                <a:latin typeface="Aptos" pitchFamily="34" charset="0"/>
                <a:ea typeface="Aptos" pitchFamily="34" charset="-122"/>
                <a:cs typeface="Aptos" pitchFamily="34" charset="-120"/>
              </a:rPr>
              <a:t>Welche Website/App/Prototyp bewertet ihr?</a:t>
            </a:r>
            <a:endParaRPr lang="en-US" sz="1470" dirty="0"/>
          </a:p>
        </p:txBody>
      </p:sp>
      <p:sp>
        <p:nvSpPr>
          <p:cNvPr id="10" name="Text 8"/>
          <p:cNvSpPr/>
          <p:nvPr/>
        </p:nvSpPr>
        <p:spPr>
          <a:xfrm>
            <a:off x="914400" y="3355848"/>
            <a:ext cx="384048" cy="237744"/>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2.</a:t>
            </a:r>
            <a:endParaRPr lang="en-US" sz="1600" dirty="0"/>
          </a:p>
        </p:txBody>
      </p:sp>
      <p:sp>
        <p:nvSpPr>
          <p:cNvPr id="11" name="Text 9"/>
          <p:cNvSpPr/>
          <p:nvPr/>
        </p:nvSpPr>
        <p:spPr>
          <a:xfrm>
            <a:off x="1335024" y="3355848"/>
            <a:ext cx="1234440" cy="237744"/>
          </a:xfrm>
          <a:prstGeom prst="rect">
            <a:avLst/>
          </a:prstGeom>
          <a:noFill/>
          <a:ln/>
        </p:spPr>
        <p:txBody>
          <a:bodyPr wrap="square" lIns="0" tIns="0" rIns="0" bIns="0" rtlCol="0" anchor="ctr"/>
          <a:lstStyle/>
          <a:p>
            <a:pPr marL="0" indent="0">
              <a:buNone/>
            </a:pPr>
            <a:r>
              <a:rPr lang="en-US" sz="1650" b="1" dirty="0">
                <a:solidFill>
                  <a:srgbClr val="111827"/>
                </a:solidFill>
                <a:latin typeface="Aptos" pitchFamily="34" charset="0"/>
                <a:ea typeface="Aptos" pitchFamily="34" charset="-122"/>
                <a:cs typeface="Aptos" pitchFamily="34" charset="-120"/>
              </a:rPr>
              <a:t>Persona</a:t>
            </a:r>
            <a:endParaRPr lang="en-US" sz="1650" dirty="0"/>
          </a:p>
        </p:txBody>
      </p:sp>
      <p:sp>
        <p:nvSpPr>
          <p:cNvPr id="12" name="Text 10"/>
          <p:cNvSpPr/>
          <p:nvPr/>
        </p:nvSpPr>
        <p:spPr>
          <a:xfrm>
            <a:off x="2651760" y="3355848"/>
            <a:ext cx="3657600" cy="292608"/>
          </a:xfrm>
          <a:prstGeom prst="rect">
            <a:avLst/>
          </a:prstGeom>
          <a:noFill/>
          <a:ln/>
        </p:spPr>
        <p:txBody>
          <a:bodyPr wrap="square" lIns="0" tIns="0" rIns="0" bIns="0" rtlCol="0" anchor="ctr">
            <a:normAutofit/>
          </a:bodyPr>
          <a:lstStyle/>
          <a:p>
            <a:pPr marL="0" indent="0">
              <a:buNone/>
            </a:pPr>
            <a:r>
              <a:rPr lang="en-US" sz="1470" dirty="0">
                <a:solidFill>
                  <a:srgbClr val="475569"/>
                </a:solidFill>
                <a:latin typeface="Aptos" pitchFamily="34" charset="0"/>
                <a:ea typeface="Aptos" pitchFamily="34" charset="-122"/>
                <a:cs typeface="Aptos" pitchFamily="34" charset="-120"/>
              </a:rPr>
              <a:t>Für wen ist das Produkt gedacht?</a:t>
            </a:r>
            <a:endParaRPr lang="en-US" sz="1470" dirty="0"/>
          </a:p>
        </p:txBody>
      </p:sp>
      <p:sp>
        <p:nvSpPr>
          <p:cNvPr id="13" name="Text 11"/>
          <p:cNvSpPr/>
          <p:nvPr/>
        </p:nvSpPr>
        <p:spPr>
          <a:xfrm>
            <a:off x="914400" y="4105656"/>
            <a:ext cx="384048" cy="237744"/>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3.</a:t>
            </a:r>
            <a:endParaRPr lang="en-US" sz="1600" dirty="0"/>
          </a:p>
        </p:txBody>
      </p:sp>
      <p:sp>
        <p:nvSpPr>
          <p:cNvPr id="14" name="Text 12"/>
          <p:cNvSpPr/>
          <p:nvPr/>
        </p:nvSpPr>
        <p:spPr>
          <a:xfrm>
            <a:off x="1335024" y="4105656"/>
            <a:ext cx="1234440" cy="237744"/>
          </a:xfrm>
          <a:prstGeom prst="rect">
            <a:avLst/>
          </a:prstGeom>
          <a:noFill/>
          <a:ln/>
        </p:spPr>
        <p:txBody>
          <a:bodyPr wrap="square" lIns="0" tIns="0" rIns="0" bIns="0" rtlCol="0" anchor="ctr"/>
          <a:lstStyle/>
          <a:p>
            <a:pPr marL="0" indent="0">
              <a:buNone/>
            </a:pPr>
            <a:r>
              <a:rPr lang="en-US" sz="1650" b="1" dirty="0">
                <a:solidFill>
                  <a:srgbClr val="111827"/>
                </a:solidFill>
                <a:latin typeface="Aptos" pitchFamily="34" charset="0"/>
                <a:ea typeface="Aptos" pitchFamily="34" charset="-122"/>
                <a:cs typeface="Aptos" pitchFamily="34" charset="-120"/>
              </a:rPr>
              <a:t>Top‑3 Tasks</a:t>
            </a:r>
            <a:endParaRPr lang="en-US" sz="1650" dirty="0"/>
          </a:p>
        </p:txBody>
      </p:sp>
      <p:sp>
        <p:nvSpPr>
          <p:cNvPr id="15" name="Text 13"/>
          <p:cNvSpPr/>
          <p:nvPr/>
        </p:nvSpPr>
        <p:spPr>
          <a:xfrm>
            <a:off x="2651760" y="4105656"/>
            <a:ext cx="3657600" cy="292608"/>
          </a:xfrm>
          <a:prstGeom prst="rect">
            <a:avLst/>
          </a:prstGeom>
          <a:noFill/>
          <a:ln/>
        </p:spPr>
        <p:txBody>
          <a:bodyPr wrap="square" lIns="0" tIns="0" rIns="0" bIns="0" rtlCol="0" anchor="ctr">
            <a:normAutofit/>
          </a:bodyPr>
          <a:lstStyle/>
          <a:p>
            <a:pPr marL="0" indent="0">
              <a:buNone/>
            </a:pPr>
            <a:r>
              <a:rPr lang="en-US" sz="1470" dirty="0">
                <a:solidFill>
                  <a:srgbClr val="475569"/>
                </a:solidFill>
                <a:latin typeface="Aptos" pitchFamily="34" charset="0"/>
                <a:ea typeface="Aptos" pitchFamily="34" charset="-122"/>
                <a:cs typeface="Aptos" pitchFamily="34" charset="-120"/>
              </a:rPr>
              <a:t>Welche Aufgaben muss die Persona schaffen?</a:t>
            </a:r>
            <a:endParaRPr lang="en-US" sz="1470" dirty="0"/>
          </a:p>
        </p:txBody>
      </p:sp>
      <p:sp>
        <p:nvSpPr>
          <p:cNvPr id="16" name="Text 14"/>
          <p:cNvSpPr/>
          <p:nvPr/>
        </p:nvSpPr>
        <p:spPr>
          <a:xfrm>
            <a:off x="6400800" y="2606040"/>
            <a:ext cx="384048" cy="237744"/>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4.</a:t>
            </a:r>
            <a:endParaRPr lang="en-US" sz="1600" dirty="0"/>
          </a:p>
        </p:txBody>
      </p:sp>
      <p:sp>
        <p:nvSpPr>
          <p:cNvPr id="17" name="Text 15"/>
          <p:cNvSpPr/>
          <p:nvPr/>
        </p:nvSpPr>
        <p:spPr>
          <a:xfrm>
            <a:off x="6821424" y="2606040"/>
            <a:ext cx="1234440" cy="237744"/>
          </a:xfrm>
          <a:prstGeom prst="rect">
            <a:avLst/>
          </a:prstGeom>
          <a:noFill/>
          <a:ln/>
        </p:spPr>
        <p:txBody>
          <a:bodyPr wrap="square" lIns="0" tIns="0" rIns="0" bIns="0" rtlCol="0" anchor="ctr"/>
          <a:lstStyle/>
          <a:p>
            <a:pPr marL="0" indent="0">
              <a:buNone/>
            </a:pPr>
            <a:r>
              <a:rPr lang="en-US" sz="1650" b="1" dirty="0">
                <a:solidFill>
                  <a:srgbClr val="111827"/>
                </a:solidFill>
                <a:latin typeface="Aptos" pitchFamily="34" charset="0"/>
                <a:ea typeface="Aptos" pitchFamily="34" charset="-122"/>
                <a:cs typeface="Aptos" pitchFamily="34" charset="-120"/>
              </a:rPr>
              <a:t>Regelwerk</a:t>
            </a:r>
            <a:endParaRPr lang="en-US" sz="1650" dirty="0"/>
          </a:p>
        </p:txBody>
      </p:sp>
      <p:sp>
        <p:nvSpPr>
          <p:cNvPr id="18" name="Text 16"/>
          <p:cNvSpPr/>
          <p:nvPr/>
        </p:nvSpPr>
        <p:spPr>
          <a:xfrm>
            <a:off x="8138160" y="2606040"/>
            <a:ext cx="3657600" cy="292608"/>
          </a:xfrm>
          <a:prstGeom prst="rect">
            <a:avLst/>
          </a:prstGeom>
          <a:noFill/>
          <a:ln/>
        </p:spPr>
        <p:txBody>
          <a:bodyPr wrap="square" lIns="0" tIns="0" rIns="0" bIns="0" rtlCol="0" anchor="ctr">
            <a:normAutofit/>
          </a:bodyPr>
          <a:lstStyle/>
          <a:p>
            <a:pPr marL="0" indent="0">
              <a:buNone/>
            </a:pPr>
            <a:r>
              <a:rPr lang="en-US" sz="1470" dirty="0">
                <a:solidFill>
                  <a:srgbClr val="475569"/>
                </a:solidFill>
                <a:latin typeface="Aptos" pitchFamily="34" charset="0"/>
                <a:ea typeface="Aptos" pitchFamily="34" charset="-122"/>
                <a:cs typeface="Aptos" pitchFamily="34" charset="-120"/>
              </a:rPr>
              <a:t>ISO oder Nielsen/Molich wählen.</a:t>
            </a:r>
            <a:endParaRPr lang="en-US" sz="1470" dirty="0"/>
          </a:p>
        </p:txBody>
      </p:sp>
      <p:sp>
        <p:nvSpPr>
          <p:cNvPr id="19" name="Text 17"/>
          <p:cNvSpPr/>
          <p:nvPr/>
        </p:nvSpPr>
        <p:spPr>
          <a:xfrm>
            <a:off x="6400800" y="3355848"/>
            <a:ext cx="384048" cy="237744"/>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5.</a:t>
            </a:r>
            <a:endParaRPr lang="en-US" sz="1600" dirty="0"/>
          </a:p>
        </p:txBody>
      </p:sp>
      <p:sp>
        <p:nvSpPr>
          <p:cNvPr id="20" name="Text 18"/>
          <p:cNvSpPr/>
          <p:nvPr/>
        </p:nvSpPr>
        <p:spPr>
          <a:xfrm>
            <a:off x="6821424" y="3355848"/>
            <a:ext cx="1234440" cy="237744"/>
          </a:xfrm>
          <a:prstGeom prst="rect">
            <a:avLst/>
          </a:prstGeom>
          <a:noFill/>
          <a:ln/>
        </p:spPr>
        <p:txBody>
          <a:bodyPr wrap="square" lIns="0" tIns="0" rIns="0" bIns="0" rtlCol="0" anchor="ctr"/>
          <a:lstStyle/>
          <a:p>
            <a:pPr marL="0" indent="0">
              <a:buNone/>
            </a:pPr>
            <a:r>
              <a:rPr lang="en-US" sz="1650" b="1" dirty="0">
                <a:solidFill>
                  <a:srgbClr val="111827"/>
                </a:solidFill>
                <a:latin typeface="Aptos" pitchFamily="34" charset="0"/>
                <a:ea typeface="Aptos" pitchFamily="34" charset="-122"/>
                <a:cs typeface="Aptos" pitchFamily="34" charset="-120"/>
              </a:rPr>
              <a:t>Rollen</a:t>
            </a:r>
            <a:endParaRPr lang="en-US" sz="1650" dirty="0"/>
          </a:p>
        </p:txBody>
      </p:sp>
      <p:sp>
        <p:nvSpPr>
          <p:cNvPr id="21" name="Text 19"/>
          <p:cNvSpPr/>
          <p:nvPr/>
        </p:nvSpPr>
        <p:spPr>
          <a:xfrm>
            <a:off x="8138160" y="3355848"/>
            <a:ext cx="3657600" cy="292608"/>
          </a:xfrm>
          <a:prstGeom prst="rect">
            <a:avLst/>
          </a:prstGeom>
          <a:noFill/>
          <a:ln/>
        </p:spPr>
        <p:txBody>
          <a:bodyPr wrap="square" lIns="0" tIns="0" rIns="0" bIns="0" rtlCol="0" anchor="ctr">
            <a:normAutofit/>
          </a:bodyPr>
          <a:lstStyle/>
          <a:p>
            <a:pPr marL="0" indent="0">
              <a:buNone/>
            </a:pPr>
            <a:r>
              <a:rPr lang="en-US" sz="1470" dirty="0">
                <a:solidFill>
                  <a:srgbClr val="475569"/>
                </a:solidFill>
                <a:latin typeface="Aptos" pitchFamily="34" charset="0"/>
                <a:ea typeface="Aptos" pitchFamily="34" charset="-122"/>
                <a:cs typeface="Aptos" pitchFamily="34" charset="-120"/>
              </a:rPr>
              <a:t>Tester:in, Beobachtung, Protokoll.</a:t>
            </a:r>
            <a:endParaRPr lang="en-US" sz="1470" dirty="0"/>
          </a:p>
        </p:txBody>
      </p:sp>
      <p:sp>
        <p:nvSpPr>
          <p:cNvPr id="22" name="Text 20"/>
          <p:cNvSpPr/>
          <p:nvPr/>
        </p:nvSpPr>
        <p:spPr>
          <a:xfrm>
            <a:off x="6400800" y="4105656"/>
            <a:ext cx="384048" cy="237744"/>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6.</a:t>
            </a:r>
            <a:endParaRPr lang="en-US" sz="1600" dirty="0"/>
          </a:p>
        </p:txBody>
      </p:sp>
      <p:sp>
        <p:nvSpPr>
          <p:cNvPr id="23" name="Text 21"/>
          <p:cNvSpPr/>
          <p:nvPr/>
        </p:nvSpPr>
        <p:spPr>
          <a:xfrm>
            <a:off x="6821424" y="4105656"/>
            <a:ext cx="1234440" cy="237744"/>
          </a:xfrm>
          <a:prstGeom prst="rect">
            <a:avLst/>
          </a:prstGeom>
          <a:noFill/>
          <a:ln/>
        </p:spPr>
        <p:txBody>
          <a:bodyPr wrap="square" lIns="0" tIns="0" rIns="0" bIns="0" rtlCol="0" anchor="ctr"/>
          <a:lstStyle/>
          <a:p>
            <a:pPr marL="0" indent="0">
              <a:buNone/>
            </a:pPr>
            <a:r>
              <a:rPr lang="en-US" sz="1650" b="1" dirty="0">
                <a:solidFill>
                  <a:srgbClr val="111827"/>
                </a:solidFill>
                <a:latin typeface="Aptos" pitchFamily="34" charset="0"/>
                <a:ea typeface="Aptos" pitchFamily="34" charset="-122"/>
                <a:cs typeface="Aptos" pitchFamily="34" charset="-120"/>
              </a:rPr>
              <a:t>Doku</a:t>
            </a:r>
            <a:endParaRPr lang="en-US" sz="1650" dirty="0"/>
          </a:p>
        </p:txBody>
      </p:sp>
      <p:sp>
        <p:nvSpPr>
          <p:cNvPr id="24" name="Text 22"/>
          <p:cNvSpPr/>
          <p:nvPr/>
        </p:nvSpPr>
        <p:spPr>
          <a:xfrm>
            <a:off x="8138160" y="4105656"/>
            <a:ext cx="3657600" cy="292608"/>
          </a:xfrm>
          <a:prstGeom prst="rect">
            <a:avLst/>
          </a:prstGeom>
          <a:noFill/>
          <a:ln/>
        </p:spPr>
        <p:txBody>
          <a:bodyPr wrap="square" lIns="0" tIns="0" rIns="0" bIns="0" rtlCol="0" anchor="ctr">
            <a:normAutofit/>
          </a:bodyPr>
          <a:lstStyle/>
          <a:p>
            <a:pPr marL="0" indent="0">
              <a:buNone/>
            </a:pPr>
            <a:r>
              <a:rPr lang="en-US" sz="1470" dirty="0">
                <a:solidFill>
                  <a:srgbClr val="475569"/>
                </a:solidFill>
                <a:latin typeface="Aptos" pitchFamily="34" charset="0"/>
                <a:ea typeface="Aptos" pitchFamily="34" charset="-122"/>
                <a:cs typeface="Aptos" pitchFamily="34" charset="-120"/>
              </a:rPr>
              <a:t>Issue Log + Screenshots vorbereiten.</a:t>
            </a:r>
            <a:endParaRPr lang="en-US" sz="1470" dirty="0"/>
          </a:p>
        </p:txBody>
      </p:sp>
      <p:sp>
        <p:nvSpPr>
          <p:cNvPr id="25" name="Text 23"/>
          <p:cNvSpPr/>
          <p:nvPr/>
        </p:nvSpPr>
        <p:spPr>
          <a:xfrm>
            <a:off x="914400" y="5486400"/>
            <a:ext cx="10287000" cy="411480"/>
          </a:xfrm>
          <a:prstGeom prst="rect">
            <a:avLst/>
          </a:prstGeom>
          <a:noFill/>
          <a:ln/>
        </p:spPr>
        <p:txBody>
          <a:bodyPr wrap="square" lIns="0" tIns="0" rIns="0" bIns="0" rtlCol="0" anchor="ctr"/>
          <a:lstStyle/>
          <a:p>
            <a:pPr marL="0" indent="0" algn="ctr">
              <a:buNone/>
            </a:pPr>
            <a:r>
              <a:rPr lang="en-US" sz="1850" b="1" dirty="0">
                <a:solidFill>
                  <a:srgbClr val="111827"/>
                </a:solidFill>
                <a:latin typeface="Aptos" pitchFamily="34" charset="0"/>
                <a:ea typeface="Aptos" pitchFamily="34" charset="-122"/>
                <a:cs typeface="Aptos" pitchFamily="34" charset="-120"/>
              </a:rPr>
              <a:t>Zwischenstand hochladen: Evaluationsplan + 1 positives + 1 negatives Beispiel-Finding.</a:t>
            </a:r>
            <a:endParaRPr lang="en-US" sz="1850" dirty="0"/>
          </a:p>
        </p:txBody>
      </p:sp>
      <p:sp>
        <p:nvSpPr>
          <p:cNvPr id="26" name="Text 24"/>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7" name="Text 25"/>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12</a:t>
            </a:r>
            <a:endParaRPr lang="en-US" sz="850" dirty="0"/>
          </a:p>
        </p:txBody>
      </p:sp>
      <p:sp>
        <p:nvSpPr>
          <p:cNvPr id="28" name="Text 26"/>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Woche 10: Planen/Entscheiden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ARBEITSAUFTRAG</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Top‑Tasks: aus Nutzersicht formulieren</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426464"/>
            <a:ext cx="10058400" cy="384048"/>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Ein guter Task beschreibt ein Ziel – nicht den Klickweg.</a:t>
            </a:r>
            <a:endParaRPr lang="en-US" sz="2500" dirty="0"/>
          </a:p>
        </p:txBody>
      </p:sp>
      <p:sp>
        <p:nvSpPr>
          <p:cNvPr id="6" name="Text 4"/>
          <p:cNvSpPr/>
          <p:nvPr/>
        </p:nvSpPr>
        <p:spPr>
          <a:xfrm>
            <a:off x="914400" y="2212848"/>
            <a:ext cx="4754880" cy="1920240"/>
          </a:xfrm>
          <a:prstGeom prst="rect">
            <a:avLst/>
          </a:prstGeom>
          <a:solidFill>
            <a:srgbClr val="FEE2E2"/>
          </a:solidFill>
          <a:ln w="12700">
            <a:solidFill>
              <a:srgbClr val="FCA5A5"/>
            </a:solidFill>
          </a:ln>
        </p:spPr>
        <p:txBody>
          <a:bodyPr wrap="square" lIns="0" tIns="0" rIns="0" bIns="0" rtlCol="0" anchor="ctr"/>
          <a:lstStyle/>
          <a:p>
            <a:pPr marL="0" indent="0">
              <a:buNone/>
            </a:pPr>
            <a:endParaRPr lang="en-US" dirty="0"/>
          </a:p>
        </p:txBody>
      </p:sp>
      <p:sp>
        <p:nvSpPr>
          <p:cNvPr id="7" name="Shape 5"/>
          <p:cNvSpPr/>
          <p:nvPr/>
        </p:nvSpPr>
        <p:spPr>
          <a:xfrm>
            <a:off x="914400" y="2212848"/>
            <a:ext cx="73152" cy="1920240"/>
          </a:xfrm>
          <a:prstGeom prst="rect">
            <a:avLst/>
          </a:prstGeom>
          <a:solidFill>
            <a:srgbClr val="B91C1C"/>
          </a:solidFill>
          <a:ln w="12700">
            <a:solidFill>
              <a:srgbClr val="B91C1C">
                <a:alpha val="0"/>
              </a:srgbClr>
            </a:solidFill>
            <a:prstDash val="solid"/>
          </a:ln>
        </p:spPr>
      </p:sp>
      <p:sp>
        <p:nvSpPr>
          <p:cNvPr id="8" name="Text 6"/>
          <p:cNvSpPr/>
          <p:nvPr/>
        </p:nvSpPr>
        <p:spPr>
          <a:xfrm>
            <a:off x="1133856" y="2395728"/>
            <a:ext cx="4315968" cy="310896"/>
          </a:xfrm>
          <a:prstGeom prst="rect">
            <a:avLst/>
          </a:prstGeom>
          <a:noFill/>
          <a:ln/>
        </p:spPr>
        <p:txBody>
          <a:bodyPr wrap="square" lIns="0" tIns="0" rIns="0" bIns="0" rtlCol="0" anchor="ctr"/>
          <a:lstStyle/>
          <a:p>
            <a:pPr marL="0" indent="0">
              <a:buNone/>
            </a:pPr>
            <a:r>
              <a:rPr lang="en-US" sz="2100" b="1" dirty="0">
                <a:solidFill>
                  <a:srgbClr val="B91C1C"/>
                </a:solidFill>
                <a:latin typeface="Aptos" pitchFamily="34" charset="0"/>
                <a:ea typeface="Aptos" pitchFamily="34" charset="-122"/>
                <a:cs typeface="Aptos" pitchFamily="34" charset="-120"/>
              </a:rPr>
              <a:t>Schwach</a:t>
            </a:r>
            <a:endParaRPr lang="en-US" sz="2100" dirty="0"/>
          </a:p>
        </p:txBody>
      </p:sp>
      <p:sp>
        <p:nvSpPr>
          <p:cNvPr id="9" name="Text 7"/>
          <p:cNvSpPr/>
          <p:nvPr/>
        </p:nvSpPr>
        <p:spPr>
          <a:xfrm>
            <a:off x="1133856" y="2816352"/>
            <a:ext cx="4315968" cy="1152144"/>
          </a:xfrm>
          <a:prstGeom prst="rect">
            <a:avLst/>
          </a:prstGeom>
          <a:noFill/>
          <a:ln/>
        </p:spPr>
        <p:txBody>
          <a:bodyPr wrap="square" lIns="0" tIns="0" rIns="0" bIns="0" rtlCol="0" anchor="t">
            <a:normAutofit/>
          </a:bodyPr>
          <a:lstStyle/>
          <a:p>
            <a:pPr marL="0" indent="0">
              <a:buNone/>
            </a:pPr>
            <a:r>
              <a:rPr lang="en-US" sz="1700" dirty="0">
                <a:solidFill>
                  <a:srgbClr val="B91C1C"/>
                </a:solidFill>
                <a:latin typeface="Aptos" pitchFamily="34" charset="0"/>
                <a:ea typeface="Aptos" pitchFamily="34" charset="-122"/>
                <a:cs typeface="Aptos" pitchFamily="34" charset="-120"/>
              </a:rPr>
              <a:t>„Klicke auf den Menüpunkt Kontakt.“</a:t>
            </a:r>
            <a:endParaRPr lang="en-US" sz="1700" dirty="0"/>
          </a:p>
          <a:p>
            <a:pPr marL="0" indent="0">
              <a:buNone/>
            </a:pPr>
            <a:endParaRPr lang="en-US" sz="1700" dirty="0"/>
          </a:p>
          <a:p>
            <a:pPr marL="0" indent="0">
              <a:buNone/>
            </a:pPr>
            <a:r>
              <a:rPr lang="en-US" sz="1700" dirty="0">
                <a:solidFill>
                  <a:srgbClr val="B91C1C"/>
                </a:solidFill>
                <a:latin typeface="Aptos" pitchFamily="34" charset="0"/>
                <a:ea typeface="Aptos" pitchFamily="34" charset="-122"/>
                <a:cs typeface="Aptos" pitchFamily="34" charset="-120"/>
              </a:rPr>
              <a:t>Problem: Der Weg ist schon vorgegeben.</a:t>
            </a:r>
            <a:endParaRPr lang="en-US" sz="1700" dirty="0"/>
          </a:p>
        </p:txBody>
      </p:sp>
      <p:sp>
        <p:nvSpPr>
          <p:cNvPr id="10" name="Text 8"/>
          <p:cNvSpPr/>
          <p:nvPr/>
        </p:nvSpPr>
        <p:spPr>
          <a:xfrm>
            <a:off x="6400800" y="2212848"/>
            <a:ext cx="4754880" cy="1920240"/>
          </a:xfrm>
          <a:prstGeom prst="rect">
            <a:avLst/>
          </a:prstGeom>
          <a:solidFill>
            <a:srgbClr val="DCFCE7"/>
          </a:solidFill>
          <a:ln w="12700">
            <a:solidFill>
              <a:srgbClr val="86EFAC"/>
            </a:solidFill>
          </a:ln>
        </p:spPr>
        <p:txBody>
          <a:bodyPr wrap="square" lIns="0" tIns="0" rIns="0" bIns="0" rtlCol="0" anchor="ctr"/>
          <a:lstStyle/>
          <a:p>
            <a:pPr marL="0" indent="0">
              <a:buNone/>
            </a:pPr>
            <a:endParaRPr lang="en-US" dirty="0"/>
          </a:p>
        </p:txBody>
      </p:sp>
      <p:sp>
        <p:nvSpPr>
          <p:cNvPr id="11" name="Shape 9"/>
          <p:cNvSpPr/>
          <p:nvPr/>
        </p:nvSpPr>
        <p:spPr>
          <a:xfrm>
            <a:off x="6400800" y="2212848"/>
            <a:ext cx="73152" cy="1920240"/>
          </a:xfrm>
          <a:prstGeom prst="rect">
            <a:avLst/>
          </a:prstGeom>
          <a:solidFill>
            <a:srgbClr val="166534"/>
          </a:solidFill>
          <a:ln w="12700">
            <a:solidFill>
              <a:srgbClr val="166534">
                <a:alpha val="0"/>
              </a:srgbClr>
            </a:solidFill>
            <a:prstDash val="solid"/>
          </a:ln>
        </p:spPr>
      </p:sp>
      <p:sp>
        <p:nvSpPr>
          <p:cNvPr id="12" name="Text 10"/>
          <p:cNvSpPr/>
          <p:nvPr/>
        </p:nvSpPr>
        <p:spPr>
          <a:xfrm>
            <a:off x="6620256" y="2395728"/>
            <a:ext cx="4315968" cy="310896"/>
          </a:xfrm>
          <a:prstGeom prst="rect">
            <a:avLst/>
          </a:prstGeom>
          <a:noFill/>
          <a:ln/>
        </p:spPr>
        <p:txBody>
          <a:bodyPr wrap="square" lIns="0" tIns="0" rIns="0" bIns="0" rtlCol="0" anchor="ctr"/>
          <a:lstStyle/>
          <a:p>
            <a:pPr marL="0" indent="0">
              <a:buNone/>
            </a:pPr>
            <a:r>
              <a:rPr lang="en-US" sz="2100" b="1" dirty="0">
                <a:solidFill>
                  <a:srgbClr val="166534"/>
                </a:solidFill>
                <a:latin typeface="Aptos" pitchFamily="34" charset="0"/>
                <a:ea typeface="Aptos" pitchFamily="34" charset="-122"/>
                <a:cs typeface="Aptos" pitchFamily="34" charset="-120"/>
              </a:rPr>
              <a:t>Besser</a:t>
            </a:r>
            <a:endParaRPr lang="en-US" sz="2100" dirty="0"/>
          </a:p>
        </p:txBody>
      </p:sp>
      <p:sp>
        <p:nvSpPr>
          <p:cNvPr id="13" name="Text 11"/>
          <p:cNvSpPr/>
          <p:nvPr/>
        </p:nvSpPr>
        <p:spPr>
          <a:xfrm>
            <a:off x="6620256" y="2816352"/>
            <a:ext cx="4315968" cy="1152144"/>
          </a:xfrm>
          <a:prstGeom prst="rect">
            <a:avLst/>
          </a:prstGeom>
          <a:noFill/>
          <a:ln/>
        </p:spPr>
        <p:txBody>
          <a:bodyPr wrap="square" lIns="0" tIns="0" rIns="0" bIns="0" rtlCol="0" anchor="t">
            <a:normAutofit/>
          </a:bodyPr>
          <a:lstStyle/>
          <a:p>
            <a:pPr marL="0" indent="0">
              <a:buNone/>
            </a:pPr>
            <a:r>
              <a:rPr lang="en-US" sz="1650" dirty="0">
                <a:solidFill>
                  <a:srgbClr val="166534"/>
                </a:solidFill>
                <a:latin typeface="Aptos" pitchFamily="34" charset="0"/>
                <a:ea typeface="Aptos" pitchFamily="34" charset="-122"/>
                <a:cs typeface="Aptos" pitchFamily="34" charset="-120"/>
              </a:rPr>
              <a:t>„Du willst den Betrieb kontaktieren. Finde heraus, wie du eine Anfrage sendest.“</a:t>
            </a:r>
            <a:endParaRPr lang="en-US" sz="1650" dirty="0"/>
          </a:p>
          <a:p>
            <a:pPr marL="0" indent="0">
              <a:buNone/>
            </a:pPr>
            <a:endParaRPr lang="en-US" sz="1650" dirty="0"/>
          </a:p>
          <a:p>
            <a:pPr marL="0" indent="0">
              <a:buNone/>
            </a:pPr>
            <a:r>
              <a:rPr lang="en-US" sz="1650" dirty="0">
                <a:solidFill>
                  <a:srgbClr val="166534"/>
                </a:solidFill>
                <a:latin typeface="Aptos" pitchFamily="34" charset="0"/>
                <a:ea typeface="Aptos" pitchFamily="34" charset="-122"/>
                <a:cs typeface="Aptos" pitchFamily="34" charset="-120"/>
              </a:rPr>
              <a:t>Ziel bleibt offen prüfbar.</a:t>
            </a:r>
            <a:endParaRPr lang="en-US" sz="1650" dirty="0"/>
          </a:p>
        </p:txBody>
      </p:sp>
      <p:sp>
        <p:nvSpPr>
          <p:cNvPr id="14" name="Text 12"/>
          <p:cNvSpPr/>
          <p:nvPr/>
        </p:nvSpPr>
        <p:spPr>
          <a:xfrm>
            <a:off x="1143000" y="4709160"/>
            <a:ext cx="1005840" cy="292608"/>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Formel</a:t>
            </a:r>
            <a:endParaRPr lang="en-US" sz="1600" dirty="0"/>
          </a:p>
        </p:txBody>
      </p:sp>
      <p:sp>
        <p:nvSpPr>
          <p:cNvPr id="15" name="Text 13"/>
          <p:cNvSpPr/>
          <p:nvPr/>
        </p:nvSpPr>
        <p:spPr>
          <a:xfrm>
            <a:off x="2377440" y="4681728"/>
            <a:ext cx="8503920" cy="384048"/>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Persona + Ziel + Situation: „Du bist … und möchtest …, weil …“</a:t>
            </a:r>
            <a:endParaRPr lang="en-US" sz="2000" dirty="0"/>
          </a:p>
        </p:txBody>
      </p:sp>
      <p:sp>
        <p:nvSpPr>
          <p:cNvPr id="16" name="Text 14"/>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17" name="Text 15"/>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13</a:t>
            </a:r>
            <a:endParaRPr lang="en-US" sz="850" dirty="0"/>
          </a:p>
        </p:txBody>
      </p:sp>
      <p:sp>
        <p:nvSpPr>
          <p:cNvPr id="18" name="Text 16"/>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 Top‑3 Tasks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ARBEITSAUFTRAG</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Arbeitsphase Woche 11: Evaluation durchführen</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353312"/>
            <a:ext cx="1508760" cy="347472"/>
          </a:xfrm>
          <a:prstGeom prst="rect">
            <a:avLst/>
          </a:prstGeom>
          <a:solidFill>
            <a:srgbClr val="DBEAFE"/>
          </a:solidFill>
          <a:ln>
            <a:solidFill>
              <a:srgbClr val="DBEAFE">
                <a:alpha val="0"/>
              </a:srgbClr>
            </a:solidFill>
          </a:ln>
        </p:spPr>
        <p:txBody>
          <a:bodyPr wrap="square" lIns="635" tIns="1524" rIns="1524" bIns="635" rtlCol="0" anchor="ctr"/>
          <a:lstStyle/>
          <a:p>
            <a:pPr marL="0" indent="0" algn="ctr">
              <a:buNone/>
            </a:pPr>
            <a:r>
              <a:rPr lang="en-US" sz="1300" b="1" dirty="0">
                <a:solidFill>
                  <a:srgbClr val="2563EB"/>
                </a:solidFill>
                <a:latin typeface="Aptos" pitchFamily="34" charset="0"/>
                <a:ea typeface="Aptos" pitchFamily="34" charset="-122"/>
                <a:cs typeface="Aptos" pitchFamily="34" charset="-120"/>
              </a:rPr>
              <a:t>15–70 Minuten</a:t>
            </a:r>
            <a:endParaRPr lang="en-US" sz="1300" dirty="0"/>
          </a:p>
        </p:txBody>
      </p:sp>
      <p:sp>
        <p:nvSpPr>
          <p:cNvPr id="6" name="Shape 4"/>
          <p:cNvSpPr/>
          <p:nvPr/>
        </p:nvSpPr>
        <p:spPr>
          <a:xfrm>
            <a:off x="1828800" y="2944368"/>
            <a:ext cx="8412480" cy="0"/>
          </a:xfrm>
          <a:prstGeom prst="line">
            <a:avLst/>
          </a:prstGeom>
          <a:noFill/>
          <a:ln w="27940">
            <a:solidFill>
              <a:srgbClr val="CBD5E1"/>
            </a:solidFill>
            <a:prstDash val="solid"/>
          </a:ln>
        </p:spPr>
      </p:sp>
      <p:sp>
        <p:nvSpPr>
          <p:cNvPr id="7" name="Text 5"/>
          <p:cNvSpPr/>
          <p:nvPr/>
        </p:nvSpPr>
        <p:spPr>
          <a:xfrm>
            <a:off x="1188720" y="2615184"/>
            <a:ext cx="530352" cy="530352"/>
          </a:xfrm>
          <a:prstGeom prst="rect">
            <a:avLst/>
          </a:prstGeom>
          <a:solidFill>
            <a:srgbClr val="2563EB"/>
          </a:solidFill>
          <a:ln>
            <a:solidFill>
              <a:srgbClr val="2563EB">
                <a:alpha val="0"/>
              </a:srgbClr>
            </a:solidFill>
          </a:ln>
        </p:spPr>
        <p:txBody>
          <a:bodyPr wrap="square" lIns="0" tIns="0" rIns="0" bIns="0" rtlCol="0" anchor="ctr"/>
          <a:lstStyle/>
          <a:p>
            <a:pPr marL="0" indent="0" algn="ctr">
              <a:buNone/>
            </a:pPr>
            <a:r>
              <a:rPr lang="en-US" sz="1900" b="1" dirty="0">
                <a:solidFill>
                  <a:srgbClr val="FFFFFF"/>
                </a:solidFill>
                <a:latin typeface="Aptos" pitchFamily="34" charset="0"/>
                <a:ea typeface="Aptos" pitchFamily="34" charset="-122"/>
                <a:cs typeface="Aptos" pitchFamily="34" charset="-120"/>
              </a:rPr>
              <a:t>1</a:t>
            </a:r>
            <a:endParaRPr lang="en-US" sz="1900" dirty="0"/>
          </a:p>
        </p:txBody>
      </p:sp>
      <p:sp>
        <p:nvSpPr>
          <p:cNvPr id="8" name="Text 6"/>
          <p:cNvSpPr/>
          <p:nvPr/>
        </p:nvSpPr>
        <p:spPr>
          <a:xfrm>
            <a:off x="960120" y="3456432"/>
            <a:ext cx="2880360" cy="292608"/>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Task‑Flow</a:t>
            </a:r>
            <a:endParaRPr lang="en-US" sz="2000" dirty="0"/>
          </a:p>
        </p:txBody>
      </p:sp>
      <p:sp>
        <p:nvSpPr>
          <p:cNvPr id="9" name="Text 7"/>
          <p:cNvSpPr/>
          <p:nvPr/>
        </p:nvSpPr>
        <p:spPr>
          <a:xfrm>
            <a:off x="960120" y="3886200"/>
            <a:ext cx="3108960" cy="914400"/>
          </a:xfrm>
          <a:prstGeom prst="rect">
            <a:avLst/>
          </a:prstGeom>
          <a:noFill/>
          <a:ln/>
        </p:spPr>
        <p:txBody>
          <a:bodyPr wrap="square" lIns="0" tIns="0" rIns="0" bIns="0" rtlCol="0" anchor="ctr">
            <a:normAutofit/>
          </a:bodyPr>
          <a:lstStyle/>
          <a:p>
            <a:pPr marL="0" indent="0">
              <a:buNone/>
            </a:pPr>
            <a:r>
              <a:rPr lang="en-US" sz="1600" dirty="0">
                <a:solidFill>
                  <a:srgbClr val="475569"/>
                </a:solidFill>
                <a:latin typeface="Aptos" pitchFamily="34" charset="0"/>
                <a:ea typeface="Aptos" pitchFamily="34" charset="-122"/>
                <a:cs typeface="Aptos" pitchFamily="34" charset="-120"/>
              </a:rPr>
              <a:t>Tasks 1–3 durchspielen</a:t>
            </a:r>
            <a:endParaRPr lang="en-US" sz="1600" dirty="0"/>
          </a:p>
          <a:p>
            <a:pPr marL="0" indent="0">
              <a:buNone/>
            </a:pPr>
            <a:r>
              <a:rPr lang="en-US" sz="1600" dirty="0">
                <a:solidFill>
                  <a:srgbClr val="475569"/>
                </a:solidFill>
                <a:latin typeface="Aptos" pitchFamily="34" charset="0"/>
                <a:ea typeface="Aptos" pitchFamily="34" charset="-122"/>
                <a:cs typeface="Aptos" pitchFamily="34" charset="-120"/>
              </a:rPr>
              <a:t>Alles notieren, was bremst oder unklar ist.</a:t>
            </a:r>
            <a:endParaRPr lang="en-US" sz="1600" dirty="0"/>
          </a:p>
        </p:txBody>
      </p:sp>
      <p:sp>
        <p:nvSpPr>
          <p:cNvPr id="10" name="Text 8"/>
          <p:cNvSpPr/>
          <p:nvPr/>
        </p:nvSpPr>
        <p:spPr>
          <a:xfrm>
            <a:off x="4617720" y="2615184"/>
            <a:ext cx="530352" cy="530352"/>
          </a:xfrm>
          <a:prstGeom prst="rect">
            <a:avLst/>
          </a:prstGeom>
          <a:solidFill>
            <a:srgbClr val="0F766E"/>
          </a:solidFill>
          <a:ln>
            <a:solidFill>
              <a:srgbClr val="0F766E">
                <a:alpha val="0"/>
              </a:srgbClr>
            </a:solidFill>
          </a:ln>
        </p:spPr>
        <p:txBody>
          <a:bodyPr wrap="square" lIns="0" tIns="0" rIns="0" bIns="0" rtlCol="0" anchor="ctr"/>
          <a:lstStyle/>
          <a:p>
            <a:pPr marL="0" indent="0" algn="ctr">
              <a:buNone/>
            </a:pPr>
            <a:r>
              <a:rPr lang="en-US" sz="1900" b="1" dirty="0">
                <a:solidFill>
                  <a:srgbClr val="FFFFFF"/>
                </a:solidFill>
                <a:latin typeface="Aptos" pitchFamily="34" charset="0"/>
                <a:ea typeface="Aptos" pitchFamily="34" charset="-122"/>
                <a:cs typeface="Aptos" pitchFamily="34" charset="-120"/>
              </a:rPr>
              <a:t>2</a:t>
            </a:r>
            <a:endParaRPr lang="en-US" sz="1900" dirty="0"/>
          </a:p>
        </p:txBody>
      </p:sp>
      <p:sp>
        <p:nvSpPr>
          <p:cNvPr id="11" name="Text 9"/>
          <p:cNvSpPr/>
          <p:nvPr/>
        </p:nvSpPr>
        <p:spPr>
          <a:xfrm>
            <a:off x="4389120" y="3456432"/>
            <a:ext cx="2880360" cy="292608"/>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Detail‑Check</a:t>
            </a:r>
            <a:endParaRPr lang="en-US" sz="2000" dirty="0"/>
          </a:p>
        </p:txBody>
      </p:sp>
      <p:sp>
        <p:nvSpPr>
          <p:cNvPr id="12" name="Text 10"/>
          <p:cNvSpPr/>
          <p:nvPr/>
        </p:nvSpPr>
        <p:spPr>
          <a:xfrm>
            <a:off x="4389120" y="3886200"/>
            <a:ext cx="3108960" cy="914400"/>
          </a:xfrm>
          <a:prstGeom prst="rect">
            <a:avLst/>
          </a:prstGeom>
          <a:noFill/>
          <a:ln/>
        </p:spPr>
        <p:txBody>
          <a:bodyPr wrap="square" lIns="0" tIns="0" rIns="0" bIns="0" rtlCol="0" anchor="ctr">
            <a:normAutofit/>
          </a:bodyPr>
          <a:lstStyle/>
          <a:p>
            <a:pPr marL="0" indent="0">
              <a:buNone/>
            </a:pPr>
            <a:r>
              <a:rPr lang="en-US" sz="1600" dirty="0">
                <a:solidFill>
                  <a:srgbClr val="475569"/>
                </a:solidFill>
                <a:latin typeface="Aptos" pitchFamily="34" charset="0"/>
                <a:ea typeface="Aptos" pitchFamily="34" charset="-122"/>
                <a:cs typeface="Aptos" pitchFamily="34" charset="-120"/>
              </a:rPr>
              <a:t>Navigation, Sprache, Konsistenz, Feedback, Fehler, Formulare, Barriere-Basics prüfen.</a:t>
            </a:r>
            <a:endParaRPr lang="en-US" sz="1600" dirty="0"/>
          </a:p>
        </p:txBody>
      </p:sp>
      <p:sp>
        <p:nvSpPr>
          <p:cNvPr id="13" name="Text 11"/>
          <p:cNvSpPr/>
          <p:nvPr/>
        </p:nvSpPr>
        <p:spPr>
          <a:xfrm>
            <a:off x="8092440" y="2615184"/>
            <a:ext cx="530352" cy="530352"/>
          </a:xfrm>
          <a:prstGeom prst="rect">
            <a:avLst/>
          </a:prstGeom>
          <a:solidFill>
            <a:srgbClr val="F59E0B"/>
          </a:solidFill>
          <a:ln>
            <a:solidFill>
              <a:srgbClr val="F59E0B">
                <a:alpha val="0"/>
              </a:srgbClr>
            </a:solidFill>
          </a:ln>
        </p:spPr>
        <p:txBody>
          <a:bodyPr wrap="square" lIns="0" tIns="0" rIns="0" bIns="0" rtlCol="0" anchor="ctr"/>
          <a:lstStyle/>
          <a:p>
            <a:pPr marL="0" indent="0" algn="ctr">
              <a:buNone/>
            </a:pPr>
            <a:r>
              <a:rPr lang="en-US" sz="1900" b="1" dirty="0">
                <a:solidFill>
                  <a:srgbClr val="FFFFFF"/>
                </a:solidFill>
                <a:latin typeface="Aptos" pitchFamily="34" charset="0"/>
                <a:ea typeface="Aptos" pitchFamily="34" charset="-122"/>
                <a:cs typeface="Aptos" pitchFamily="34" charset="-120"/>
              </a:rPr>
              <a:t>3</a:t>
            </a:r>
            <a:endParaRPr lang="en-US" sz="1900" dirty="0"/>
          </a:p>
        </p:txBody>
      </p:sp>
      <p:sp>
        <p:nvSpPr>
          <p:cNvPr id="14" name="Text 12"/>
          <p:cNvSpPr/>
          <p:nvPr/>
        </p:nvSpPr>
        <p:spPr>
          <a:xfrm>
            <a:off x="7863840" y="3456432"/>
            <a:ext cx="2880360" cy="292608"/>
          </a:xfrm>
          <a:prstGeom prst="rect">
            <a:avLst/>
          </a:prstGeom>
          <a:noFill/>
          <a:ln/>
        </p:spPr>
        <p:txBody>
          <a:bodyPr wrap="square" lIns="0" tIns="0" rIns="0" bIns="0" rtlCol="0" anchor="ctr"/>
          <a:lstStyle/>
          <a:p>
            <a:pPr marL="0" indent="0">
              <a:buNone/>
            </a:pPr>
            <a:r>
              <a:rPr lang="en-US" sz="2000" b="1" dirty="0">
                <a:solidFill>
                  <a:srgbClr val="111827"/>
                </a:solidFill>
                <a:latin typeface="Aptos" pitchFamily="34" charset="0"/>
                <a:ea typeface="Aptos" pitchFamily="34" charset="-122"/>
                <a:cs typeface="Aptos" pitchFamily="34" charset="-120"/>
              </a:rPr>
              <a:t>Belege sichern</a:t>
            </a:r>
            <a:endParaRPr lang="en-US" sz="2000" dirty="0"/>
          </a:p>
        </p:txBody>
      </p:sp>
      <p:sp>
        <p:nvSpPr>
          <p:cNvPr id="15" name="Text 13"/>
          <p:cNvSpPr/>
          <p:nvPr/>
        </p:nvSpPr>
        <p:spPr>
          <a:xfrm>
            <a:off x="7863840" y="3886200"/>
            <a:ext cx="3108960" cy="914400"/>
          </a:xfrm>
          <a:prstGeom prst="rect">
            <a:avLst/>
          </a:prstGeom>
          <a:noFill/>
          <a:ln/>
        </p:spPr>
        <p:txBody>
          <a:bodyPr wrap="square" lIns="0" tIns="0" rIns="0" bIns="0" rtlCol="0" anchor="ctr">
            <a:normAutofit/>
          </a:bodyPr>
          <a:lstStyle/>
          <a:p>
            <a:pPr marL="0" indent="0">
              <a:buNone/>
            </a:pPr>
            <a:r>
              <a:rPr lang="en-US" sz="1600" dirty="0">
                <a:solidFill>
                  <a:srgbClr val="475569"/>
                </a:solidFill>
                <a:latin typeface="Aptos" pitchFamily="34" charset="0"/>
                <a:ea typeface="Aptos" pitchFamily="34" charset="-122"/>
                <a:cs typeface="Aptos" pitchFamily="34" charset="-120"/>
              </a:rPr>
              <a:t>Zu wichtigen Issues Screenshot oder Markierung sammeln.</a:t>
            </a:r>
            <a:endParaRPr lang="en-US" sz="1600" dirty="0"/>
          </a:p>
        </p:txBody>
      </p:sp>
      <p:sp>
        <p:nvSpPr>
          <p:cNvPr id="16" name="Text 14"/>
          <p:cNvSpPr/>
          <p:nvPr/>
        </p:nvSpPr>
        <p:spPr>
          <a:xfrm>
            <a:off x="960120" y="5504688"/>
            <a:ext cx="10058400" cy="393192"/>
          </a:xfrm>
          <a:prstGeom prst="rect">
            <a:avLst/>
          </a:prstGeom>
          <a:noFill/>
          <a:ln/>
        </p:spPr>
        <p:txBody>
          <a:bodyPr wrap="square" lIns="0" tIns="0" rIns="0" bIns="0" rtlCol="0" anchor="ctr"/>
          <a:lstStyle/>
          <a:p>
            <a:pPr marL="0" indent="0" algn="ctr">
              <a:buNone/>
            </a:pPr>
            <a:r>
              <a:rPr lang="en-US" sz="1950" b="1" dirty="0">
                <a:solidFill>
                  <a:srgbClr val="111827"/>
                </a:solidFill>
                <a:latin typeface="Aptos" pitchFamily="34" charset="0"/>
                <a:ea typeface="Aptos" pitchFamily="34" charset="-122"/>
                <a:cs typeface="Aptos" pitchFamily="34" charset="-120"/>
              </a:rPr>
              <a:t>Arbeitsregel: Beobachtung + Wirkung schreiben – nicht „finde ich hässlich“.</a:t>
            </a:r>
            <a:endParaRPr lang="en-US" sz="1950" dirty="0"/>
          </a:p>
        </p:txBody>
      </p:sp>
      <p:sp>
        <p:nvSpPr>
          <p:cNvPr id="17" name="Text 15"/>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18" name="Text 16"/>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14</a:t>
            </a:r>
            <a:endParaRPr lang="en-US" sz="850" dirty="0"/>
          </a:p>
        </p:txBody>
      </p:sp>
      <p:sp>
        <p:nvSpPr>
          <p:cNvPr id="19" name="Text 17"/>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Woche 11: Ausführen/Kontrollieren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KONTROLLIEREN</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Top‑5 Findings auswählen</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417320"/>
            <a:ext cx="10058400" cy="384048"/>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Nicht jedes Issue kommt in den Bericht. Priorisiert nach Wirkung.</a:t>
            </a:r>
            <a:endParaRPr lang="en-US" sz="2500" dirty="0"/>
          </a:p>
        </p:txBody>
      </p:sp>
      <p:sp>
        <p:nvSpPr>
          <p:cNvPr id="6" name="Text 4"/>
          <p:cNvSpPr/>
          <p:nvPr/>
        </p:nvSpPr>
        <p:spPr>
          <a:xfrm>
            <a:off x="914400" y="2240280"/>
            <a:ext cx="2468880" cy="201168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7" name="Shape 5"/>
          <p:cNvSpPr/>
          <p:nvPr/>
        </p:nvSpPr>
        <p:spPr>
          <a:xfrm>
            <a:off x="914400" y="2240280"/>
            <a:ext cx="73152" cy="2011680"/>
          </a:xfrm>
          <a:prstGeom prst="rect">
            <a:avLst/>
          </a:prstGeom>
          <a:solidFill>
            <a:srgbClr val="B91C1C"/>
          </a:solidFill>
          <a:ln w="12700">
            <a:solidFill>
              <a:srgbClr val="B91C1C">
                <a:alpha val="0"/>
              </a:srgbClr>
            </a:solidFill>
            <a:prstDash val="solid"/>
          </a:ln>
        </p:spPr>
      </p:sp>
      <p:sp>
        <p:nvSpPr>
          <p:cNvPr id="8" name="Text 6"/>
          <p:cNvSpPr/>
          <p:nvPr/>
        </p:nvSpPr>
        <p:spPr>
          <a:xfrm>
            <a:off x="1133856" y="2423160"/>
            <a:ext cx="2029968"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1. Task-Erfolg</a:t>
            </a:r>
            <a:endParaRPr lang="en-US" sz="1900" dirty="0"/>
          </a:p>
        </p:txBody>
      </p:sp>
      <p:sp>
        <p:nvSpPr>
          <p:cNvPr id="9" name="Text 7"/>
          <p:cNvSpPr/>
          <p:nvPr/>
        </p:nvSpPr>
        <p:spPr>
          <a:xfrm>
            <a:off x="1133856" y="2843784"/>
            <a:ext cx="2029968" cy="1243584"/>
          </a:xfrm>
          <a:prstGeom prst="rect">
            <a:avLst/>
          </a:prstGeom>
          <a:noFill/>
          <a:ln/>
        </p:spPr>
        <p:txBody>
          <a:bodyPr wrap="square" lIns="0" tIns="0" rIns="0" bIns="0" rtlCol="0" anchor="t">
            <a:normAutofit/>
          </a:bodyPr>
          <a:lstStyle/>
          <a:p>
            <a:pPr marL="0" indent="0">
              <a:buNone/>
            </a:pPr>
            <a:r>
              <a:rPr lang="en-US" sz="1700" dirty="0">
                <a:solidFill>
                  <a:srgbClr val="475569"/>
                </a:solidFill>
                <a:latin typeface="Aptos" pitchFamily="34" charset="0"/>
                <a:ea typeface="Aptos" pitchFamily="34" charset="-122"/>
                <a:cs typeface="Aptos" pitchFamily="34" charset="-120"/>
              </a:rPr>
              <a:t>Verhindert das Problem das Ziel?</a:t>
            </a:r>
            <a:endParaRPr lang="en-US" sz="1700" dirty="0"/>
          </a:p>
        </p:txBody>
      </p:sp>
      <p:sp>
        <p:nvSpPr>
          <p:cNvPr id="10" name="Text 8"/>
          <p:cNvSpPr/>
          <p:nvPr/>
        </p:nvSpPr>
        <p:spPr>
          <a:xfrm>
            <a:off x="3611880" y="2240280"/>
            <a:ext cx="2468880" cy="201168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1" name="Shape 9"/>
          <p:cNvSpPr/>
          <p:nvPr/>
        </p:nvSpPr>
        <p:spPr>
          <a:xfrm>
            <a:off x="3611880" y="2240280"/>
            <a:ext cx="73152" cy="2011680"/>
          </a:xfrm>
          <a:prstGeom prst="rect">
            <a:avLst/>
          </a:prstGeom>
          <a:solidFill>
            <a:srgbClr val="F59E0B"/>
          </a:solidFill>
          <a:ln w="12700">
            <a:solidFill>
              <a:srgbClr val="F59E0B">
                <a:alpha val="0"/>
              </a:srgbClr>
            </a:solidFill>
            <a:prstDash val="solid"/>
          </a:ln>
        </p:spPr>
      </p:sp>
      <p:sp>
        <p:nvSpPr>
          <p:cNvPr id="12" name="Text 10"/>
          <p:cNvSpPr/>
          <p:nvPr/>
        </p:nvSpPr>
        <p:spPr>
          <a:xfrm>
            <a:off x="3831336" y="2423160"/>
            <a:ext cx="2029968"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2. Häufigkeit</a:t>
            </a:r>
            <a:endParaRPr lang="en-US" sz="1900" dirty="0"/>
          </a:p>
        </p:txBody>
      </p:sp>
      <p:sp>
        <p:nvSpPr>
          <p:cNvPr id="13" name="Text 11"/>
          <p:cNvSpPr/>
          <p:nvPr/>
        </p:nvSpPr>
        <p:spPr>
          <a:xfrm>
            <a:off x="3831336" y="2843784"/>
            <a:ext cx="2029968" cy="1243584"/>
          </a:xfrm>
          <a:prstGeom prst="rect">
            <a:avLst/>
          </a:prstGeom>
          <a:noFill/>
          <a:ln/>
        </p:spPr>
        <p:txBody>
          <a:bodyPr wrap="square" lIns="0" tIns="0" rIns="0" bIns="0" rtlCol="0" anchor="t">
            <a:normAutofit/>
          </a:bodyPr>
          <a:lstStyle/>
          <a:p>
            <a:pPr marL="0" indent="0">
              <a:buNone/>
            </a:pPr>
            <a:r>
              <a:rPr lang="en-US" sz="1700" dirty="0">
                <a:solidFill>
                  <a:srgbClr val="475569"/>
                </a:solidFill>
                <a:latin typeface="Aptos" pitchFamily="34" charset="0"/>
                <a:ea typeface="Aptos" pitchFamily="34" charset="-122"/>
                <a:cs typeface="Aptos" pitchFamily="34" charset="-120"/>
              </a:rPr>
              <a:t>Trifft es viele Nutzer:innen oder Tasks?</a:t>
            </a:r>
            <a:endParaRPr lang="en-US" sz="1700" dirty="0"/>
          </a:p>
        </p:txBody>
      </p:sp>
      <p:sp>
        <p:nvSpPr>
          <p:cNvPr id="14" name="Text 12"/>
          <p:cNvSpPr/>
          <p:nvPr/>
        </p:nvSpPr>
        <p:spPr>
          <a:xfrm>
            <a:off x="6309360" y="2240280"/>
            <a:ext cx="2468880" cy="201168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5" name="Shape 13"/>
          <p:cNvSpPr/>
          <p:nvPr/>
        </p:nvSpPr>
        <p:spPr>
          <a:xfrm>
            <a:off x="6309360" y="2240280"/>
            <a:ext cx="73152" cy="2011680"/>
          </a:xfrm>
          <a:prstGeom prst="rect">
            <a:avLst/>
          </a:prstGeom>
          <a:solidFill>
            <a:srgbClr val="2563EB"/>
          </a:solidFill>
          <a:ln w="12700">
            <a:solidFill>
              <a:srgbClr val="2563EB">
                <a:alpha val="0"/>
              </a:srgbClr>
            </a:solidFill>
            <a:prstDash val="solid"/>
          </a:ln>
        </p:spPr>
      </p:sp>
      <p:sp>
        <p:nvSpPr>
          <p:cNvPr id="16" name="Text 14"/>
          <p:cNvSpPr/>
          <p:nvPr/>
        </p:nvSpPr>
        <p:spPr>
          <a:xfrm>
            <a:off x="6528816" y="2423160"/>
            <a:ext cx="2029968"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3. Beleg</a:t>
            </a:r>
            <a:endParaRPr lang="en-US" sz="1900" dirty="0"/>
          </a:p>
        </p:txBody>
      </p:sp>
      <p:sp>
        <p:nvSpPr>
          <p:cNvPr id="17" name="Text 15"/>
          <p:cNvSpPr/>
          <p:nvPr/>
        </p:nvSpPr>
        <p:spPr>
          <a:xfrm>
            <a:off x="6528816" y="2843784"/>
            <a:ext cx="2029968" cy="1243584"/>
          </a:xfrm>
          <a:prstGeom prst="rect">
            <a:avLst/>
          </a:prstGeom>
          <a:noFill/>
          <a:ln/>
        </p:spPr>
        <p:txBody>
          <a:bodyPr wrap="square" lIns="0" tIns="0" rIns="0" bIns="0" rtlCol="0" anchor="t">
            <a:normAutofit/>
          </a:bodyPr>
          <a:lstStyle/>
          <a:p>
            <a:pPr marL="0" indent="0">
              <a:buNone/>
            </a:pPr>
            <a:r>
              <a:rPr lang="en-US" sz="1700" dirty="0">
                <a:solidFill>
                  <a:srgbClr val="475569"/>
                </a:solidFill>
                <a:latin typeface="Aptos" pitchFamily="34" charset="0"/>
                <a:ea typeface="Aptos" pitchFamily="34" charset="-122"/>
                <a:cs typeface="Aptos" pitchFamily="34" charset="-120"/>
              </a:rPr>
              <a:t>Ist es mit Screenshot/Tabelle sichtbar?</a:t>
            </a:r>
            <a:endParaRPr lang="en-US" sz="1700" dirty="0"/>
          </a:p>
        </p:txBody>
      </p:sp>
      <p:sp>
        <p:nvSpPr>
          <p:cNvPr id="18" name="Text 16"/>
          <p:cNvSpPr/>
          <p:nvPr/>
        </p:nvSpPr>
        <p:spPr>
          <a:xfrm>
            <a:off x="9006840" y="2240280"/>
            <a:ext cx="2468880" cy="201168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9" name="Shape 17"/>
          <p:cNvSpPr/>
          <p:nvPr/>
        </p:nvSpPr>
        <p:spPr>
          <a:xfrm>
            <a:off x="9006840" y="2240280"/>
            <a:ext cx="73152" cy="2011680"/>
          </a:xfrm>
          <a:prstGeom prst="rect">
            <a:avLst/>
          </a:prstGeom>
          <a:solidFill>
            <a:srgbClr val="166534"/>
          </a:solidFill>
          <a:ln w="12700">
            <a:solidFill>
              <a:srgbClr val="166534">
                <a:alpha val="0"/>
              </a:srgbClr>
            </a:solidFill>
            <a:prstDash val="solid"/>
          </a:ln>
        </p:spPr>
      </p:sp>
      <p:sp>
        <p:nvSpPr>
          <p:cNvPr id="20" name="Text 18"/>
          <p:cNvSpPr/>
          <p:nvPr/>
        </p:nvSpPr>
        <p:spPr>
          <a:xfrm>
            <a:off x="9226296" y="2423160"/>
            <a:ext cx="2029968" cy="310896"/>
          </a:xfrm>
          <a:prstGeom prst="rect">
            <a:avLst/>
          </a:prstGeom>
          <a:noFill/>
          <a:ln/>
        </p:spPr>
        <p:txBody>
          <a:bodyPr wrap="square" lIns="0" tIns="0" rIns="0" bIns="0" rtlCol="0" anchor="ctr"/>
          <a:lstStyle/>
          <a:p>
            <a:pPr marL="0" indent="0">
              <a:buNone/>
            </a:pPr>
            <a:r>
              <a:rPr lang="en-US" sz="1900" b="1" dirty="0">
                <a:solidFill>
                  <a:srgbClr val="111827"/>
                </a:solidFill>
                <a:latin typeface="Aptos" pitchFamily="34" charset="0"/>
                <a:ea typeface="Aptos" pitchFamily="34" charset="-122"/>
                <a:cs typeface="Aptos" pitchFamily="34" charset="-120"/>
              </a:rPr>
              <a:t>4. Fix</a:t>
            </a:r>
            <a:endParaRPr lang="en-US" sz="1900" dirty="0"/>
          </a:p>
        </p:txBody>
      </p:sp>
      <p:sp>
        <p:nvSpPr>
          <p:cNvPr id="21" name="Text 19"/>
          <p:cNvSpPr/>
          <p:nvPr/>
        </p:nvSpPr>
        <p:spPr>
          <a:xfrm>
            <a:off x="9226296" y="2843784"/>
            <a:ext cx="2029968" cy="1243584"/>
          </a:xfrm>
          <a:prstGeom prst="rect">
            <a:avLst/>
          </a:prstGeom>
          <a:noFill/>
          <a:ln/>
        </p:spPr>
        <p:txBody>
          <a:bodyPr wrap="square" lIns="0" tIns="0" rIns="0" bIns="0" rtlCol="0" anchor="t">
            <a:normAutofit/>
          </a:bodyPr>
          <a:lstStyle/>
          <a:p>
            <a:pPr marL="0" indent="0">
              <a:buNone/>
            </a:pPr>
            <a:r>
              <a:rPr lang="en-US" sz="1700" dirty="0">
                <a:solidFill>
                  <a:srgbClr val="475569"/>
                </a:solidFill>
                <a:latin typeface="Aptos" pitchFamily="34" charset="0"/>
                <a:ea typeface="Aptos" pitchFamily="34" charset="-122"/>
                <a:cs typeface="Aptos" pitchFamily="34" charset="-120"/>
              </a:rPr>
              <a:t>Gibt es eine realistische Änderung?</a:t>
            </a:r>
            <a:endParaRPr lang="en-US" sz="1700" dirty="0"/>
          </a:p>
        </p:txBody>
      </p:sp>
      <p:sp>
        <p:nvSpPr>
          <p:cNvPr id="22" name="Text 20"/>
          <p:cNvSpPr/>
          <p:nvPr/>
        </p:nvSpPr>
        <p:spPr>
          <a:xfrm>
            <a:off x="914400" y="5074920"/>
            <a:ext cx="10241280" cy="530352"/>
          </a:xfrm>
          <a:prstGeom prst="rect">
            <a:avLst/>
          </a:prstGeom>
          <a:noFill/>
          <a:ln/>
        </p:spPr>
        <p:txBody>
          <a:bodyPr wrap="square" lIns="0" tIns="0" rIns="0" bIns="0" rtlCol="0" anchor="ctr"/>
          <a:lstStyle/>
          <a:p>
            <a:pPr marL="0" indent="0" algn="ctr">
              <a:buNone/>
            </a:pPr>
            <a:r>
              <a:rPr lang="en-US" sz="2400" b="1" dirty="0">
                <a:solidFill>
                  <a:srgbClr val="111827"/>
                </a:solidFill>
                <a:latin typeface="Aptos Display" pitchFamily="34" charset="0"/>
                <a:ea typeface="Aptos Display" pitchFamily="34" charset="-122"/>
                <a:cs typeface="Aptos Display" pitchFamily="34" charset="-120"/>
              </a:rPr>
              <a:t>Top‑5 = die fünf Punkte, die den Task-Erfolg am stärksten stören und gut belegbar sind.</a:t>
            </a:r>
            <a:endParaRPr lang="en-US" sz="2400" dirty="0"/>
          </a:p>
        </p:txBody>
      </p:sp>
      <p:sp>
        <p:nvSpPr>
          <p:cNvPr id="23" name="Text 21"/>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4" name="Text 22"/>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15</a:t>
            </a:r>
            <a:endParaRPr lang="en-US" sz="850" dirty="0"/>
          </a:p>
        </p:txBody>
      </p:sp>
      <p:sp>
        <p:nvSpPr>
          <p:cNvPr id="25" name="Text 23"/>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Woche 11: Top‑5 Findings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ARBEITSAUFTRAG</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Arbeitsphase Woche 12: Bericht bauen</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353312"/>
            <a:ext cx="1508760" cy="347472"/>
          </a:xfrm>
          <a:prstGeom prst="rect">
            <a:avLst/>
          </a:prstGeom>
          <a:solidFill>
            <a:srgbClr val="FEF3C7"/>
          </a:solidFill>
          <a:ln>
            <a:solidFill>
              <a:srgbClr val="FEF3C7">
                <a:alpha val="0"/>
              </a:srgbClr>
            </a:solidFill>
          </a:ln>
        </p:spPr>
        <p:txBody>
          <a:bodyPr wrap="square" lIns="635" tIns="1524" rIns="1524" bIns="635" rtlCol="0" anchor="ctr"/>
          <a:lstStyle/>
          <a:p>
            <a:pPr marL="0" indent="0" algn="ctr">
              <a:buNone/>
            </a:pPr>
            <a:r>
              <a:rPr lang="en-US" sz="1300" b="1" dirty="0">
                <a:solidFill>
                  <a:srgbClr val="92400E"/>
                </a:solidFill>
                <a:latin typeface="Aptos" pitchFamily="34" charset="0"/>
                <a:ea typeface="Aptos" pitchFamily="34" charset="-122"/>
                <a:cs typeface="Aptos" pitchFamily="34" charset="-120"/>
              </a:rPr>
              <a:t>10–55 Minuten</a:t>
            </a:r>
            <a:endParaRPr lang="en-US" sz="1300" dirty="0"/>
          </a:p>
        </p:txBody>
      </p:sp>
      <p:sp>
        <p:nvSpPr>
          <p:cNvPr id="6" name="Text 4"/>
          <p:cNvSpPr/>
          <p:nvPr/>
        </p:nvSpPr>
        <p:spPr>
          <a:xfrm>
            <a:off x="914400" y="1828800"/>
            <a:ext cx="10058400" cy="384048"/>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Eine A4-Seite braucht Struktur. Kürzen ist Teil der Aufgabe.</a:t>
            </a:r>
            <a:endParaRPr lang="en-US" sz="2500" dirty="0"/>
          </a:p>
        </p:txBody>
      </p:sp>
      <p:sp>
        <p:nvSpPr>
          <p:cNvPr id="7" name="Text 5"/>
          <p:cNvSpPr/>
          <p:nvPr/>
        </p:nvSpPr>
        <p:spPr>
          <a:xfrm>
            <a:off x="1005840" y="2606040"/>
            <a:ext cx="1920240" cy="228600"/>
          </a:xfrm>
          <a:prstGeom prst="rect">
            <a:avLst/>
          </a:prstGeom>
          <a:noFill/>
          <a:ln/>
        </p:spPr>
        <p:txBody>
          <a:bodyPr wrap="square" lIns="0" tIns="0" rIns="0" bIns="0" rtlCol="0" anchor="ctr"/>
          <a:lstStyle/>
          <a:p>
            <a:pPr marL="0" indent="0">
              <a:buNone/>
            </a:pPr>
            <a:r>
              <a:rPr lang="en-US" sz="1650" b="1" dirty="0">
                <a:solidFill>
                  <a:srgbClr val="0F766E"/>
                </a:solidFill>
                <a:latin typeface="Aptos" pitchFamily="34" charset="0"/>
                <a:ea typeface="Aptos" pitchFamily="34" charset="-122"/>
                <a:cs typeface="Aptos" pitchFamily="34" charset="-120"/>
              </a:rPr>
              <a:t>Einleitung</a:t>
            </a:r>
            <a:endParaRPr lang="en-US" sz="1650" dirty="0"/>
          </a:p>
        </p:txBody>
      </p:sp>
      <p:sp>
        <p:nvSpPr>
          <p:cNvPr id="8" name="Text 6"/>
          <p:cNvSpPr/>
          <p:nvPr/>
        </p:nvSpPr>
        <p:spPr>
          <a:xfrm>
            <a:off x="3154680" y="2606040"/>
            <a:ext cx="7680960" cy="228600"/>
          </a:xfrm>
          <a:prstGeom prst="rect">
            <a:avLst/>
          </a:prstGeom>
          <a:noFill/>
          <a:ln/>
        </p:spPr>
        <p:txBody>
          <a:bodyPr wrap="square" lIns="0" tIns="0" rIns="0" bIns="0" rtlCol="0" anchor="ctr"/>
          <a:lstStyle/>
          <a:p>
            <a:pPr marL="0" indent="0">
              <a:buNone/>
            </a:pPr>
            <a:r>
              <a:rPr lang="en-US" sz="1650" dirty="0">
                <a:solidFill>
                  <a:srgbClr val="111827"/>
                </a:solidFill>
                <a:latin typeface="Aptos" pitchFamily="34" charset="0"/>
                <a:ea typeface="Aptos" pitchFamily="34" charset="-122"/>
                <a:cs typeface="Aptos" pitchFamily="34" charset="-120"/>
              </a:rPr>
              <a:t>Produkt, Zielgruppe, Zweck</a:t>
            </a:r>
            <a:endParaRPr lang="en-US" sz="1650" dirty="0"/>
          </a:p>
        </p:txBody>
      </p:sp>
      <p:sp>
        <p:nvSpPr>
          <p:cNvPr id="9" name="Text 7"/>
          <p:cNvSpPr/>
          <p:nvPr/>
        </p:nvSpPr>
        <p:spPr>
          <a:xfrm>
            <a:off x="1005840" y="3136392"/>
            <a:ext cx="1920240" cy="228600"/>
          </a:xfrm>
          <a:prstGeom prst="rect">
            <a:avLst/>
          </a:prstGeom>
          <a:noFill/>
          <a:ln/>
        </p:spPr>
        <p:txBody>
          <a:bodyPr wrap="square" lIns="0" tIns="0" rIns="0" bIns="0" rtlCol="0" anchor="ctr"/>
          <a:lstStyle/>
          <a:p>
            <a:pPr marL="0" indent="0">
              <a:buNone/>
            </a:pPr>
            <a:r>
              <a:rPr lang="en-US" sz="1650" b="1" dirty="0">
                <a:solidFill>
                  <a:srgbClr val="0F766E"/>
                </a:solidFill>
                <a:latin typeface="Aptos" pitchFamily="34" charset="0"/>
                <a:ea typeface="Aptos" pitchFamily="34" charset="-122"/>
                <a:cs typeface="Aptos" pitchFamily="34" charset="-120"/>
              </a:rPr>
              <a:t>Methode</a:t>
            </a:r>
            <a:endParaRPr lang="en-US" sz="1650" dirty="0"/>
          </a:p>
        </p:txBody>
      </p:sp>
      <p:sp>
        <p:nvSpPr>
          <p:cNvPr id="10" name="Text 8"/>
          <p:cNvSpPr/>
          <p:nvPr/>
        </p:nvSpPr>
        <p:spPr>
          <a:xfrm>
            <a:off x="3154680" y="3136392"/>
            <a:ext cx="7680960" cy="228600"/>
          </a:xfrm>
          <a:prstGeom prst="rect">
            <a:avLst/>
          </a:prstGeom>
          <a:noFill/>
          <a:ln/>
        </p:spPr>
        <p:txBody>
          <a:bodyPr wrap="square" lIns="0" tIns="0" rIns="0" bIns="0" rtlCol="0" anchor="ctr"/>
          <a:lstStyle/>
          <a:p>
            <a:pPr marL="0" indent="0">
              <a:buNone/>
            </a:pPr>
            <a:r>
              <a:rPr lang="en-US" sz="1650" dirty="0">
                <a:solidFill>
                  <a:srgbClr val="111827"/>
                </a:solidFill>
                <a:latin typeface="Aptos" pitchFamily="34" charset="0"/>
                <a:ea typeface="Aptos" pitchFamily="34" charset="-122"/>
                <a:cs typeface="Aptos" pitchFamily="34" charset="-120"/>
              </a:rPr>
              <a:t>ISO oder Nielsen, 3 Tasks, Vorgehen</a:t>
            </a:r>
            <a:endParaRPr lang="en-US" sz="1650" dirty="0"/>
          </a:p>
        </p:txBody>
      </p:sp>
      <p:sp>
        <p:nvSpPr>
          <p:cNvPr id="11" name="Text 9"/>
          <p:cNvSpPr/>
          <p:nvPr/>
        </p:nvSpPr>
        <p:spPr>
          <a:xfrm>
            <a:off x="1005840" y="3666744"/>
            <a:ext cx="1920240" cy="228600"/>
          </a:xfrm>
          <a:prstGeom prst="rect">
            <a:avLst/>
          </a:prstGeom>
          <a:noFill/>
          <a:ln/>
        </p:spPr>
        <p:txBody>
          <a:bodyPr wrap="square" lIns="0" tIns="0" rIns="0" bIns="0" rtlCol="0" anchor="ctr"/>
          <a:lstStyle/>
          <a:p>
            <a:pPr marL="0" indent="0">
              <a:buNone/>
            </a:pPr>
            <a:r>
              <a:rPr lang="en-US" sz="1650" b="1" dirty="0">
                <a:solidFill>
                  <a:srgbClr val="2563EB"/>
                </a:solidFill>
                <a:latin typeface="Aptos" pitchFamily="34" charset="0"/>
                <a:ea typeface="Aptos" pitchFamily="34" charset="-122"/>
                <a:cs typeface="Aptos" pitchFamily="34" charset="-120"/>
              </a:rPr>
              <a:t>Stärken</a:t>
            </a:r>
            <a:endParaRPr lang="en-US" sz="1650" dirty="0"/>
          </a:p>
        </p:txBody>
      </p:sp>
      <p:sp>
        <p:nvSpPr>
          <p:cNvPr id="12" name="Text 10"/>
          <p:cNvSpPr/>
          <p:nvPr/>
        </p:nvSpPr>
        <p:spPr>
          <a:xfrm>
            <a:off x="3154680" y="3666744"/>
            <a:ext cx="7680960" cy="228600"/>
          </a:xfrm>
          <a:prstGeom prst="rect">
            <a:avLst/>
          </a:prstGeom>
          <a:noFill/>
          <a:ln/>
        </p:spPr>
        <p:txBody>
          <a:bodyPr wrap="square" lIns="0" tIns="0" rIns="0" bIns="0" rtlCol="0" anchor="ctr"/>
          <a:lstStyle/>
          <a:p>
            <a:pPr marL="0" indent="0">
              <a:buNone/>
            </a:pPr>
            <a:r>
              <a:rPr lang="en-US" sz="1650" dirty="0">
                <a:solidFill>
                  <a:srgbClr val="111827"/>
                </a:solidFill>
                <a:latin typeface="Aptos" pitchFamily="34" charset="0"/>
                <a:ea typeface="Aptos" pitchFamily="34" charset="-122"/>
                <a:cs typeface="Aptos" pitchFamily="34" charset="-120"/>
              </a:rPr>
              <a:t>mindestens 2 positive Punkte</a:t>
            </a:r>
            <a:endParaRPr lang="en-US" sz="1650" dirty="0"/>
          </a:p>
        </p:txBody>
      </p:sp>
      <p:sp>
        <p:nvSpPr>
          <p:cNvPr id="13" name="Text 11"/>
          <p:cNvSpPr/>
          <p:nvPr/>
        </p:nvSpPr>
        <p:spPr>
          <a:xfrm>
            <a:off x="1005840" y="4197096"/>
            <a:ext cx="1920240" cy="228600"/>
          </a:xfrm>
          <a:prstGeom prst="rect">
            <a:avLst/>
          </a:prstGeom>
          <a:noFill/>
          <a:ln/>
        </p:spPr>
        <p:txBody>
          <a:bodyPr wrap="square" lIns="0" tIns="0" rIns="0" bIns="0" rtlCol="0" anchor="ctr"/>
          <a:lstStyle/>
          <a:p>
            <a:pPr marL="0" indent="0">
              <a:buNone/>
            </a:pPr>
            <a:r>
              <a:rPr lang="en-US" sz="1650" b="1" dirty="0">
                <a:solidFill>
                  <a:srgbClr val="2563EB"/>
                </a:solidFill>
                <a:latin typeface="Aptos" pitchFamily="34" charset="0"/>
                <a:ea typeface="Aptos" pitchFamily="34" charset="-122"/>
                <a:cs typeface="Aptos" pitchFamily="34" charset="-120"/>
              </a:rPr>
              <a:t>Top‑5 Tabelle</a:t>
            </a:r>
            <a:endParaRPr lang="en-US" sz="1650" dirty="0"/>
          </a:p>
        </p:txBody>
      </p:sp>
      <p:sp>
        <p:nvSpPr>
          <p:cNvPr id="14" name="Text 12"/>
          <p:cNvSpPr/>
          <p:nvPr/>
        </p:nvSpPr>
        <p:spPr>
          <a:xfrm>
            <a:off x="3154680" y="4197096"/>
            <a:ext cx="7680960" cy="228600"/>
          </a:xfrm>
          <a:prstGeom prst="rect">
            <a:avLst/>
          </a:prstGeom>
          <a:noFill/>
          <a:ln/>
        </p:spPr>
        <p:txBody>
          <a:bodyPr wrap="square" lIns="0" tIns="0" rIns="0" bIns="0" rtlCol="0" anchor="ctr"/>
          <a:lstStyle/>
          <a:p>
            <a:pPr marL="0" indent="0">
              <a:buNone/>
            </a:pPr>
            <a:r>
              <a:rPr lang="en-US" sz="1650" dirty="0">
                <a:solidFill>
                  <a:srgbClr val="111827"/>
                </a:solidFill>
                <a:latin typeface="Aptos" pitchFamily="34" charset="0"/>
                <a:ea typeface="Aptos" pitchFamily="34" charset="-122"/>
                <a:cs typeface="Aptos" pitchFamily="34" charset="-120"/>
              </a:rPr>
              <a:t>Problem · Regel · Auswirkung · Fix · Beleg</a:t>
            </a:r>
            <a:endParaRPr lang="en-US" sz="1650" dirty="0"/>
          </a:p>
        </p:txBody>
      </p:sp>
      <p:sp>
        <p:nvSpPr>
          <p:cNvPr id="15" name="Text 13"/>
          <p:cNvSpPr/>
          <p:nvPr/>
        </p:nvSpPr>
        <p:spPr>
          <a:xfrm>
            <a:off x="1005840" y="4727448"/>
            <a:ext cx="1920240" cy="228600"/>
          </a:xfrm>
          <a:prstGeom prst="rect">
            <a:avLst/>
          </a:prstGeom>
          <a:noFill/>
          <a:ln/>
        </p:spPr>
        <p:txBody>
          <a:bodyPr wrap="square" lIns="0" tIns="0" rIns="0" bIns="0" rtlCol="0" anchor="ctr"/>
          <a:lstStyle/>
          <a:p>
            <a:pPr marL="0" indent="0">
              <a:buNone/>
            </a:pPr>
            <a:r>
              <a:rPr lang="en-US" sz="1650" b="1" dirty="0">
                <a:solidFill>
                  <a:srgbClr val="92400E"/>
                </a:solidFill>
                <a:latin typeface="Aptos" pitchFamily="34" charset="0"/>
                <a:ea typeface="Aptos" pitchFamily="34" charset="-122"/>
                <a:cs typeface="Aptos" pitchFamily="34" charset="-120"/>
              </a:rPr>
              <a:t>Fazit</a:t>
            </a:r>
            <a:endParaRPr lang="en-US" sz="1650" dirty="0"/>
          </a:p>
        </p:txBody>
      </p:sp>
      <p:sp>
        <p:nvSpPr>
          <p:cNvPr id="16" name="Text 14"/>
          <p:cNvSpPr/>
          <p:nvPr/>
        </p:nvSpPr>
        <p:spPr>
          <a:xfrm>
            <a:off x="3154680" y="4727448"/>
            <a:ext cx="7680960" cy="228600"/>
          </a:xfrm>
          <a:prstGeom prst="rect">
            <a:avLst/>
          </a:prstGeom>
          <a:noFill/>
          <a:ln/>
        </p:spPr>
        <p:txBody>
          <a:bodyPr wrap="square" lIns="0" tIns="0" rIns="0" bIns="0" rtlCol="0" anchor="ctr"/>
          <a:lstStyle/>
          <a:p>
            <a:pPr marL="0" indent="0">
              <a:buNone/>
            </a:pPr>
            <a:r>
              <a:rPr lang="en-US" sz="1650" dirty="0">
                <a:solidFill>
                  <a:srgbClr val="111827"/>
                </a:solidFill>
                <a:latin typeface="Aptos" pitchFamily="34" charset="0"/>
                <a:ea typeface="Aptos" pitchFamily="34" charset="-122"/>
                <a:cs typeface="Aptos" pitchFamily="34" charset="-120"/>
              </a:rPr>
              <a:t>grösstes Risiko + schneller Verbesserungsschritt</a:t>
            </a:r>
            <a:endParaRPr lang="en-US" sz="1650" dirty="0"/>
          </a:p>
        </p:txBody>
      </p:sp>
      <p:sp>
        <p:nvSpPr>
          <p:cNvPr id="17" name="Text 15"/>
          <p:cNvSpPr/>
          <p:nvPr/>
        </p:nvSpPr>
        <p:spPr>
          <a:xfrm>
            <a:off x="914400" y="5577840"/>
            <a:ext cx="10058400" cy="347472"/>
          </a:xfrm>
          <a:prstGeom prst="rect">
            <a:avLst/>
          </a:prstGeom>
          <a:noFill/>
          <a:ln/>
        </p:spPr>
        <p:txBody>
          <a:bodyPr wrap="square" lIns="0" tIns="0" rIns="0" bIns="0" rtlCol="0" anchor="ctr"/>
          <a:lstStyle/>
          <a:p>
            <a:pPr marL="0" indent="0" algn="ctr">
              <a:buNone/>
            </a:pPr>
            <a:r>
              <a:rPr lang="en-US" sz="1800" b="1" dirty="0">
                <a:solidFill>
                  <a:srgbClr val="475569"/>
                </a:solidFill>
                <a:latin typeface="Aptos" pitchFamily="34" charset="0"/>
                <a:ea typeface="Aptos" pitchFamily="34" charset="-122"/>
                <a:cs typeface="Aptos" pitchFamily="34" charset="-120"/>
              </a:rPr>
              <a:t>KI-Hilfe ist erlaubt zum Kürzen oder Glätten – aber sie darf keine neuen Probleme erfinden.</a:t>
            </a:r>
            <a:endParaRPr lang="en-US" sz="1800" dirty="0"/>
          </a:p>
        </p:txBody>
      </p:sp>
      <p:sp>
        <p:nvSpPr>
          <p:cNvPr id="18" name="Text 16"/>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19" name="Text 17"/>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16</a:t>
            </a:r>
            <a:endParaRPr lang="en-US" sz="850" dirty="0"/>
          </a:p>
        </p:txBody>
      </p:sp>
      <p:sp>
        <p:nvSpPr>
          <p:cNvPr id="20" name="Text 18"/>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Woche 12: Berichtsvorlage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CHECKPOINT</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Peer‑Review: Rubrik‑Check vor der Abgabe</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426464"/>
            <a:ext cx="9875520" cy="384048"/>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Prüft eine andere Gruppe mit sechs Fragen:</a:t>
            </a:r>
            <a:endParaRPr lang="en-US" sz="2500" dirty="0"/>
          </a:p>
        </p:txBody>
      </p:sp>
      <p:sp>
        <p:nvSpPr>
          <p:cNvPr id="6" name="Text 4"/>
          <p:cNvSpPr/>
          <p:nvPr/>
        </p:nvSpPr>
        <p:spPr>
          <a:xfrm>
            <a:off x="1143000" y="2103120"/>
            <a:ext cx="292608" cy="256032"/>
          </a:xfrm>
          <a:prstGeom prst="rect">
            <a:avLst/>
          </a:prstGeom>
          <a:noFill/>
          <a:ln/>
        </p:spPr>
        <p:txBody>
          <a:bodyPr wrap="square" lIns="0" tIns="0" rIns="0" bIns="0" rtlCol="0" anchor="ctr"/>
          <a:lstStyle/>
          <a:p>
            <a:pPr marL="0" indent="0">
              <a:buNone/>
            </a:pPr>
            <a:r>
              <a:rPr lang="en-US" sz="1800" dirty="0">
                <a:solidFill>
                  <a:srgbClr val="0F766E"/>
                </a:solidFill>
                <a:latin typeface="Aptos" pitchFamily="34" charset="0"/>
                <a:ea typeface="Aptos" pitchFamily="34" charset="-122"/>
                <a:cs typeface="Aptos" pitchFamily="34" charset="-120"/>
              </a:rPr>
              <a:t>☐</a:t>
            </a:r>
            <a:endParaRPr lang="en-US" sz="1800" dirty="0"/>
          </a:p>
        </p:txBody>
      </p:sp>
      <p:sp>
        <p:nvSpPr>
          <p:cNvPr id="7" name="Text 5"/>
          <p:cNvSpPr/>
          <p:nvPr/>
        </p:nvSpPr>
        <p:spPr>
          <a:xfrm>
            <a:off x="1508760" y="2103120"/>
            <a:ext cx="9509760" cy="256032"/>
          </a:xfrm>
          <a:prstGeom prst="rect">
            <a:avLst/>
          </a:prstGeom>
          <a:noFill/>
          <a:ln/>
        </p:spPr>
        <p:txBody>
          <a:bodyPr wrap="square" lIns="0" tIns="0" rIns="0" bIns="0" rtlCol="0" anchor="ctr"/>
          <a:lstStyle/>
          <a:p>
            <a:pPr marL="0" indent="0">
              <a:buNone/>
            </a:pPr>
            <a:r>
              <a:rPr lang="en-US" sz="1730" dirty="0">
                <a:solidFill>
                  <a:srgbClr val="111827"/>
                </a:solidFill>
                <a:latin typeface="Aptos" pitchFamily="34" charset="0"/>
                <a:ea typeface="Aptos" pitchFamily="34" charset="-122"/>
                <a:cs typeface="Aptos" pitchFamily="34" charset="-120"/>
              </a:rPr>
              <a:t>Einleitung – Methode – Ergebnisse – Fazit erkennbar?</a:t>
            </a:r>
            <a:endParaRPr lang="en-US" sz="1730" dirty="0"/>
          </a:p>
        </p:txBody>
      </p:sp>
      <p:sp>
        <p:nvSpPr>
          <p:cNvPr id="8" name="Text 6"/>
          <p:cNvSpPr/>
          <p:nvPr/>
        </p:nvSpPr>
        <p:spPr>
          <a:xfrm>
            <a:off x="1143000" y="2697480"/>
            <a:ext cx="292608" cy="256032"/>
          </a:xfrm>
          <a:prstGeom prst="rect">
            <a:avLst/>
          </a:prstGeom>
          <a:noFill/>
          <a:ln/>
        </p:spPr>
        <p:txBody>
          <a:bodyPr wrap="square" lIns="0" tIns="0" rIns="0" bIns="0" rtlCol="0" anchor="ctr"/>
          <a:lstStyle/>
          <a:p>
            <a:pPr marL="0" indent="0">
              <a:buNone/>
            </a:pPr>
            <a:r>
              <a:rPr lang="en-US" sz="1800" dirty="0">
                <a:solidFill>
                  <a:srgbClr val="0F766E"/>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1508760" y="2697480"/>
            <a:ext cx="9509760" cy="256032"/>
          </a:xfrm>
          <a:prstGeom prst="rect">
            <a:avLst/>
          </a:prstGeom>
          <a:noFill/>
          <a:ln/>
        </p:spPr>
        <p:txBody>
          <a:bodyPr wrap="square" lIns="0" tIns="0" rIns="0" bIns="0" rtlCol="0" anchor="ctr"/>
          <a:lstStyle/>
          <a:p>
            <a:pPr marL="0" indent="0">
              <a:buNone/>
            </a:pPr>
            <a:r>
              <a:rPr lang="en-US" sz="1730" dirty="0">
                <a:solidFill>
                  <a:srgbClr val="111827"/>
                </a:solidFill>
                <a:latin typeface="Aptos" pitchFamily="34" charset="0"/>
                <a:ea typeface="Aptos" pitchFamily="34" charset="-122"/>
                <a:cs typeface="Aptos" pitchFamily="34" charset="-120"/>
              </a:rPr>
              <a:t>Positive und negative Punkte enthalten?</a:t>
            </a:r>
            <a:endParaRPr lang="en-US" sz="1730" dirty="0"/>
          </a:p>
        </p:txBody>
      </p:sp>
      <p:sp>
        <p:nvSpPr>
          <p:cNvPr id="10" name="Text 8"/>
          <p:cNvSpPr/>
          <p:nvPr/>
        </p:nvSpPr>
        <p:spPr>
          <a:xfrm>
            <a:off x="1143000" y="3291840"/>
            <a:ext cx="292608" cy="256032"/>
          </a:xfrm>
          <a:prstGeom prst="rect">
            <a:avLst/>
          </a:prstGeom>
          <a:noFill/>
          <a:ln/>
        </p:spPr>
        <p:txBody>
          <a:bodyPr wrap="square" lIns="0" tIns="0" rIns="0" bIns="0" rtlCol="0" anchor="ctr"/>
          <a:lstStyle/>
          <a:p>
            <a:pPr marL="0" indent="0">
              <a:buNone/>
            </a:pPr>
            <a:r>
              <a:rPr lang="en-US" sz="1800" dirty="0">
                <a:solidFill>
                  <a:srgbClr val="0F766E"/>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1508760" y="3291840"/>
            <a:ext cx="9509760" cy="256032"/>
          </a:xfrm>
          <a:prstGeom prst="rect">
            <a:avLst/>
          </a:prstGeom>
          <a:noFill/>
          <a:ln/>
        </p:spPr>
        <p:txBody>
          <a:bodyPr wrap="square" lIns="0" tIns="0" rIns="0" bIns="0" rtlCol="0" anchor="ctr"/>
          <a:lstStyle/>
          <a:p>
            <a:pPr marL="0" indent="0">
              <a:buNone/>
            </a:pPr>
            <a:r>
              <a:rPr lang="en-US" sz="1730" dirty="0">
                <a:solidFill>
                  <a:srgbClr val="111827"/>
                </a:solidFill>
                <a:latin typeface="Aptos" pitchFamily="34" charset="0"/>
                <a:ea typeface="Aptos" pitchFamily="34" charset="-122"/>
                <a:cs typeface="Aptos" pitchFamily="34" charset="-120"/>
              </a:rPr>
              <a:t>ISO oder Nielsen konsequent angewendet?</a:t>
            </a:r>
            <a:endParaRPr lang="en-US" sz="1730" dirty="0"/>
          </a:p>
        </p:txBody>
      </p:sp>
      <p:sp>
        <p:nvSpPr>
          <p:cNvPr id="12" name="Text 10"/>
          <p:cNvSpPr/>
          <p:nvPr/>
        </p:nvSpPr>
        <p:spPr>
          <a:xfrm>
            <a:off x="1143000" y="3886200"/>
            <a:ext cx="292608" cy="256032"/>
          </a:xfrm>
          <a:prstGeom prst="rect">
            <a:avLst/>
          </a:prstGeom>
          <a:noFill/>
          <a:ln/>
        </p:spPr>
        <p:txBody>
          <a:bodyPr wrap="square" lIns="0" tIns="0" rIns="0" bIns="0" rtlCol="0" anchor="ctr"/>
          <a:lstStyle/>
          <a:p>
            <a:pPr marL="0" indent="0">
              <a:buNone/>
            </a:pPr>
            <a:r>
              <a:rPr lang="en-US" sz="1800" dirty="0">
                <a:solidFill>
                  <a:srgbClr val="0F766E"/>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1508760" y="3886200"/>
            <a:ext cx="9509760" cy="256032"/>
          </a:xfrm>
          <a:prstGeom prst="rect">
            <a:avLst/>
          </a:prstGeom>
          <a:noFill/>
          <a:ln/>
        </p:spPr>
        <p:txBody>
          <a:bodyPr wrap="square" lIns="0" tIns="0" rIns="0" bIns="0" rtlCol="0" anchor="ctr"/>
          <a:lstStyle/>
          <a:p>
            <a:pPr marL="0" indent="0">
              <a:buNone/>
            </a:pPr>
            <a:r>
              <a:rPr lang="en-US" sz="1730" dirty="0">
                <a:solidFill>
                  <a:srgbClr val="111827"/>
                </a:solidFill>
                <a:latin typeface="Aptos" pitchFamily="34" charset="0"/>
                <a:ea typeface="Aptos" pitchFamily="34" charset="-122"/>
                <a:cs typeface="Aptos" pitchFamily="34" charset="-120"/>
              </a:rPr>
              <a:t>Konkrete Beispiele und mindestens ein Beleg sichtbar?</a:t>
            </a:r>
            <a:endParaRPr lang="en-US" sz="1730" dirty="0"/>
          </a:p>
        </p:txBody>
      </p:sp>
      <p:sp>
        <p:nvSpPr>
          <p:cNvPr id="14" name="Text 12"/>
          <p:cNvSpPr/>
          <p:nvPr/>
        </p:nvSpPr>
        <p:spPr>
          <a:xfrm>
            <a:off x="1143000" y="4480560"/>
            <a:ext cx="292608" cy="256032"/>
          </a:xfrm>
          <a:prstGeom prst="rect">
            <a:avLst/>
          </a:prstGeom>
          <a:noFill/>
          <a:ln/>
        </p:spPr>
        <p:txBody>
          <a:bodyPr wrap="square" lIns="0" tIns="0" rIns="0" bIns="0" rtlCol="0" anchor="ctr"/>
          <a:lstStyle/>
          <a:p>
            <a:pPr marL="0" indent="0">
              <a:buNone/>
            </a:pPr>
            <a:r>
              <a:rPr lang="en-US" sz="1800" dirty="0">
                <a:solidFill>
                  <a:srgbClr val="0F766E"/>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508760" y="4480560"/>
            <a:ext cx="9509760" cy="256032"/>
          </a:xfrm>
          <a:prstGeom prst="rect">
            <a:avLst/>
          </a:prstGeom>
          <a:noFill/>
          <a:ln/>
        </p:spPr>
        <p:txBody>
          <a:bodyPr wrap="square" lIns="0" tIns="0" rIns="0" bIns="0" rtlCol="0" anchor="ctr"/>
          <a:lstStyle/>
          <a:p>
            <a:pPr marL="0" indent="0">
              <a:buNone/>
            </a:pPr>
            <a:r>
              <a:rPr lang="en-US" sz="1730" dirty="0">
                <a:solidFill>
                  <a:srgbClr val="111827"/>
                </a:solidFill>
                <a:latin typeface="Aptos" pitchFamily="34" charset="0"/>
                <a:ea typeface="Aptos" pitchFamily="34" charset="-122"/>
                <a:cs typeface="Aptos" pitchFamily="34" charset="-120"/>
              </a:rPr>
              <a:t>Verbesserungen realistisch und konkret?</a:t>
            </a:r>
            <a:endParaRPr lang="en-US" sz="1730" dirty="0"/>
          </a:p>
        </p:txBody>
      </p:sp>
      <p:sp>
        <p:nvSpPr>
          <p:cNvPr id="16" name="Text 14"/>
          <p:cNvSpPr/>
          <p:nvPr/>
        </p:nvSpPr>
        <p:spPr>
          <a:xfrm>
            <a:off x="1143000" y="5074920"/>
            <a:ext cx="292608" cy="256032"/>
          </a:xfrm>
          <a:prstGeom prst="rect">
            <a:avLst/>
          </a:prstGeom>
          <a:noFill/>
          <a:ln/>
        </p:spPr>
        <p:txBody>
          <a:bodyPr wrap="square" lIns="0" tIns="0" rIns="0" bIns="0" rtlCol="0" anchor="ctr"/>
          <a:lstStyle/>
          <a:p>
            <a:pPr marL="0" indent="0">
              <a:buNone/>
            </a:pPr>
            <a:r>
              <a:rPr lang="en-US" sz="1800" dirty="0">
                <a:solidFill>
                  <a:srgbClr val="0F766E"/>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508760" y="5074920"/>
            <a:ext cx="9509760" cy="256032"/>
          </a:xfrm>
          <a:prstGeom prst="rect">
            <a:avLst/>
          </a:prstGeom>
          <a:noFill/>
          <a:ln/>
        </p:spPr>
        <p:txBody>
          <a:bodyPr wrap="square" lIns="0" tIns="0" rIns="0" bIns="0" rtlCol="0" anchor="ctr"/>
          <a:lstStyle/>
          <a:p>
            <a:pPr marL="0" indent="0">
              <a:buNone/>
            </a:pPr>
            <a:r>
              <a:rPr lang="en-US" sz="1730" dirty="0">
                <a:solidFill>
                  <a:srgbClr val="111827"/>
                </a:solidFill>
                <a:latin typeface="Aptos" pitchFamily="34" charset="0"/>
                <a:ea typeface="Aptos" pitchFamily="34" charset="-122"/>
                <a:cs typeface="Aptos" pitchFamily="34" charset="-120"/>
              </a:rPr>
              <a:t>Sachliche Sprache, 1 A4-Seite, Dateiname korrekt?</a:t>
            </a:r>
            <a:endParaRPr lang="en-US" sz="1730" dirty="0"/>
          </a:p>
        </p:txBody>
      </p:sp>
      <p:sp>
        <p:nvSpPr>
          <p:cNvPr id="18" name="Text 16"/>
          <p:cNvSpPr/>
          <p:nvPr/>
        </p:nvSpPr>
        <p:spPr>
          <a:xfrm>
            <a:off x="1005840" y="5641848"/>
            <a:ext cx="10149840" cy="329184"/>
          </a:xfrm>
          <a:prstGeom prst="rect">
            <a:avLst/>
          </a:prstGeom>
          <a:noFill/>
          <a:ln/>
        </p:spPr>
        <p:txBody>
          <a:bodyPr wrap="square" lIns="0" tIns="0" rIns="0" bIns="0" rtlCol="0" anchor="ctr"/>
          <a:lstStyle/>
          <a:p>
            <a:pPr marL="0" indent="0" algn="ctr">
              <a:buNone/>
            </a:pPr>
            <a:r>
              <a:rPr lang="en-US" sz="1900" b="1" dirty="0">
                <a:solidFill>
                  <a:srgbClr val="111827"/>
                </a:solidFill>
                <a:latin typeface="Aptos" pitchFamily="34" charset="0"/>
                <a:ea typeface="Aptos" pitchFamily="34" charset="-122"/>
                <a:cs typeface="Aptos" pitchFamily="34" charset="-120"/>
              </a:rPr>
              <a:t>Feedbackregel: Eine Stärke + eine konkrete Verbesserung nennen.</a:t>
            </a:r>
            <a:endParaRPr lang="en-US" sz="1900" dirty="0"/>
          </a:p>
        </p:txBody>
      </p:sp>
      <p:sp>
        <p:nvSpPr>
          <p:cNvPr id="19" name="Text 17"/>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0" name="Text 18"/>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17</a:t>
            </a:r>
            <a:endParaRPr lang="en-US" sz="850" dirty="0"/>
          </a:p>
        </p:txBody>
      </p:sp>
      <p:sp>
        <p:nvSpPr>
          <p:cNvPr id="21" name="Text 19"/>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 Bewertungskriterien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66928" y="329184"/>
            <a:ext cx="5029200" cy="182880"/>
          </a:xfrm>
          <a:prstGeom prst="rect">
            <a:avLst/>
          </a:prstGeom>
          <a:noFill/>
          <a:ln/>
        </p:spPr>
        <p:txBody>
          <a:bodyPr wrap="square" lIns="0" tIns="0" rIns="0" bIns="0" rtlCol="0" anchor="ctr"/>
          <a:lstStyle/>
          <a:p>
            <a:pPr marL="0" indent="0">
              <a:buNone/>
            </a:pPr>
            <a:r>
              <a:rPr lang="en-US" sz="880" b="1" dirty="0">
                <a:solidFill>
                  <a:srgbClr val="0F766E"/>
                </a:solidFill>
                <a:latin typeface="Aptos" pitchFamily="34" charset="0"/>
                <a:ea typeface="Aptos" pitchFamily="34" charset="-122"/>
                <a:cs typeface="Aptos" pitchFamily="34" charset="-120"/>
              </a:rPr>
              <a:t>TAKEAWAYS</a:t>
            </a:r>
            <a:endParaRPr lang="en-US" sz="880" dirty="0"/>
          </a:p>
        </p:txBody>
      </p:sp>
      <p:sp>
        <p:nvSpPr>
          <p:cNvPr id="3" name="Text 1"/>
          <p:cNvSpPr/>
          <p:nvPr/>
        </p:nvSpPr>
        <p:spPr>
          <a:xfrm>
            <a:off x="566928" y="603504"/>
            <a:ext cx="10972800" cy="50292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Abschluss: Das muss am Ende stimmen</a:t>
            </a:r>
            <a:endParaRPr lang="en-US" sz="3100" dirty="0"/>
          </a:p>
        </p:txBody>
      </p:sp>
      <p:sp>
        <p:nvSpPr>
          <p:cNvPr id="4" name="Shape 2"/>
          <p:cNvSpPr/>
          <p:nvPr/>
        </p:nvSpPr>
        <p:spPr>
          <a:xfrm>
            <a:off x="566928" y="1069848"/>
            <a:ext cx="11045952" cy="0"/>
          </a:xfrm>
          <a:prstGeom prst="line">
            <a:avLst/>
          </a:prstGeom>
          <a:noFill/>
          <a:ln w="8890">
            <a:solidFill>
              <a:srgbClr val="CBD5E1"/>
            </a:solidFill>
            <a:prstDash val="solid"/>
          </a:ln>
        </p:spPr>
      </p:sp>
      <p:sp>
        <p:nvSpPr>
          <p:cNvPr id="5" name="Text 3"/>
          <p:cNvSpPr/>
          <p:nvPr/>
        </p:nvSpPr>
        <p:spPr>
          <a:xfrm>
            <a:off x="914400" y="1572768"/>
            <a:ext cx="3383280" cy="265176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6" name="Shape 4"/>
          <p:cNvSpPr/>
          <p:nvPr/>
        </p:nvSpPr>
        <p:spPr>
          <a:xfrm>
            <a:off x="914400" y="1572768"/>
            <a:ext cx="73152" cy="2651760"/>
          </a:xfrm>
          <a:prstGeom prst="rect">
            <a:avLst/>
          </a:prstGeom>
          <a:solidFill>
            <a:srgbClr val="0F766E"/>
          </a:solidFill>
          <a:ln w="12700">
            <a:solidFill>
              <a:srgbClr val="0F766E">
                <a:alpha val="0"/>
              </a:srgbClr>
            </a:solidFill>
            <a:prstDash val="solid"/>
          </a:ln>
        </p:spPr>
      </p:sp>
      <p:sp>
        <p:nvSpPr>
          <p:cNvPr id="7" name="Text 5"/>
          <p:cNvSpPr/>
          <p:nvPr/>
        </p:nvSpPr>
        <p:spPr>
          <a:xfrm>
            <a:off x="1133856" y="1755648"/>
            <a:ext cx="2944368" cy="310896"/>
          </a:xfrm>
          <a:prstGeom prst="rect">
            <a:avLst/>
          </a:prstGeom>
          <a:noFill/>
          <a:ln/>
        </p:spPr>
        <p:txBody>
          <a:bodyPr wrap="square" lIns="0" tIns="0" rIns="0" bIns="0" rtlCol="0" anchor="ctr"/>
          <a:lstStyle/>
          <a:p>
            <a:pPr marL="0" indent="0">
              <a:buNone/>
            </a:pPr>
            <a:r>
              <a:rPr lang="en-US" sz="2200" b="1" dirty="0">
                <a:solidFill>
                  <a:srgbClr val="111827"/>
                </a:solidFill>
                <a:latin typeface="Aptos" pitchFamily="34" charset="0"/>
                <a:ea typeface="Aptos" pitchFamily="34" charset="-122"/>
                <a:cs typeface="Aptos" pitchFamily="34" charset="-120"/>
              </a:rPr>
              <a:t>1. Bewertbar</a:t>
            </a:r>
            <a:endParaRPr lang="en-US" sz="2200" dirty="0"/>
          </a:p>
        </p:txBody>
      </p:sp>
      <p:sp>
        <p:nvSpPr>
          <p:cNvPr id="8" name="Text 6"/>
          <p:cNvSpPr/>
          <p:nvPr/>
        </p:nvSpPr>
        <p:spPr>
          <a:xfrm>
            <a:off x="1133856" y="2176272"/>
            <a:ext cx="2944368" cy="188366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Jede Aussage ist sachlich, verortet und mit einer Regel verbunden.</a:t>
            </a:r>
            <a:endParaRPr lang="en-US" sz="1800" dirty="0"/>
          </a:p>
        </p:txBody>
      </p:sp>
      <p:sp>
        <p:nvSpPr>
          <p:cNvPr id="9" name="Text 7"/>
          <p:cNvSpPr/>
          <p:nvPr/>
        </p:nvSpPr>
        <p:spPr>
          <a:xfrm>
            <a:off x="4526280" y="1572768"/>
            <a:ext cx="3383280" cy="265176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0" name="Shape 8"/>
          <p:cNvSpPr/>
          <p:nvPr/>
        </p:nvSpPr>
        <p:spPr>
          <a:xfrm>
            <a:off x="4526280" y="1572768"/>
            <a:ext cx="73152" cy="2651760"/>
          </a:xfrm>
          <a:prstGeom prst="rect">
            <a:avLst/>
          </a:prstGeom>
          <a:solidFill>
            <a:srgbClr val="2563EB"/>
          </a:solidFill>
          <a:ln w="12700">
            <a:solidFill>
              <a:srgbClr val="2563EB">
                <a:alpha val="0"/>
              </a:srgbClr>
            </a:solidFill>
            <a:prstDash val="solid"/>
          </a:ln>
        </p:spPr>
      </p:sp>
      <p:sp>
        <p:nvSpPr>
          <p:cNvPr id="11" name="Text 9"/>
          <p:cNvSpPr/>
          <p:nvPr/>
        </p:nvSpPr>
        <p:spPr>
          <a:xfrm>
            <a:off x="4745736" y="1755648"/>
            <a:ext cx="2944368" cy="310896"/>
          </a:xfrm>
          <a:prstGeom prst="rect">
            <a:avLst/>
          </a:prstGeom>
          <a:noFill/>
          <a:ln/>
        </p:spPr>
        <p:txBody>
          <a:bodyPr wrap="square" lIns="0" tIns="0" rIns="0" bIns="0" rtlCol="0" anchor="ctr"/>
          <a:lstStyle/>
          <a:p>
            <a:pPr marL="0" indent="0">
              <a:buNone/>
            </a:pPr>
            <a:r>
              <a:rPr lang="en-US" sz="2200" b="1" dirty="0">
                <a:solidFill>
                  <a:srgbClr val="111827"/>
                </a:solidFill>
                <a:latin typeface="Aptos" pitchFamily="34" charset="0"/>
                <a:ea typeface="Aptos" pitchFamily="34" charset="-122"/>
                <a:cs typeface="Aptos" pitchFamily="34" charset="-120"/>
              </a:rPr>
              <a:t>2. Belegbar</a:t>
            </a:r>
            <a:endParaRPr lang="en-US" sz="2200" dirty="0"/>
          </a:p>
        </p:txBody>
      </p:sp>
      <p:sp>
        <p:nvSpPr>
          <p:cNvPr id="12" name="Text 10"/>
          <p:cNvSpPr/>
          <p:nvPr/>
        </p:nvSpPr>
        <p:spPr>
          <a:xfrm>
            <a:off x="4745736" y="2176272"/>
            <a:ext cx="2944368" cy="188366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Mindestens ein visueller Beleg macht die Beobachtung nachvollziehbar.</a:t>
            </a:r>
            <a:endParaRPr lang="en-US" sz="1800" dirty="0"/>
          </a:p>
        </p:txBody>
      </p:sp>
      <p:sp>
        <p:nvSpPr>
          <p:cNvPr id="13" name="Text 11"/>
          <p:cNvSpPr/>
          <p:nvPr/>
        </p:nvSpPr>
        <p:spPr>
          <a:xfrm>
            <a:off x="8138160" y="1572768"/>
            <a:ext cx="3383280" cy="265176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4" name="Shape 12"/>
          <p:cNvSpPr/>
          <p:nvPr/>
        </p:nvSpPr>
        <p:spPr>
          <a:xfrm>
            <a:off x="8138160" y="1572768"/>
            <a:ext cx="73152" cy="2651760"/>
          </a:xfrm>
          <a:prstGeom prst="rect">
            <a:avLst/>
          </a:prstGeom>
          <a:solidFill>
            <a:srgbClr val="F59E0B"/>
          </a:solidFill>
          <a:ln w="12700">
            <a:solidFill>
              <a:srgbClr val="F59E0B">
                <a:alpha val="0"/>
              </a:srgbClr>
            </a:solidFill>
            <a:prstDash val="solid"/>
          </a:ln>
        </p:spPr>
      </p:sp>
      <p:sp>
        <p:nvSpPr>
          <p:cNvPr id="15" name="Text 13"/>
          <p:cNvSpPr/>
          <p:nvPr/>
        </p:nvSpPr>
        <p:spPr>
          <a:xfrm>
            <a:off x="8357616" y="1755648"/>
            <a:ext cx="2944368" cy="310896"/>
          </a:xfrm>
          <a:prstGeom prst="rect">
            <a:avLst/>
          </a:prstGeom>
          <a:noFill/>
          <a:ln/>
        </p:spPr>
        <p:txBody>
          <a:bodyPr wrap="square" lIns="0" tIns="0" rIns="0" bIns="0" rtlCol="0" anchor="ctr"/>
          <a:lstStyle/>
          <a:p>
            <a:pPr marL="0" indent="0">
              <a:buNone/>
            </a:pPr>
            <a:r>
              <a:rPr lang="en-US" sz="2200" b="1" dirty="0">
                <a:solidFill>
                  <a:srgbClr val="111827"/>
                </a:solidFill>
                <a:latin typeface="Aptos" pitchFamily="34" charset="0"/>
                <a:ea typeface="Aptos" pitchFamily="34" charset="-122"/>
                <a:cs typeface="Aptos" pitchFamily="34" charset="-120"/>
              </a:rPr>
              <a:t>3. Verbesserbar</a:t>
            </a:r>
            <a:endParaRPr lang="en-US" sz="2200" dirty="0"/>
          </a:p>
        </p:txBody>
      </p:sp>
      <p:sp>
        <p:nvSpPr>
          <p:cNvPr id="16" name="Text 14"/>
          <p:cNvSpPr/>
          <p:nvPr/>
        </p:nvSpPr>
        <p:spPr>
          <a:xfrm>
            <a:off x="8357616" y="2176272"/>
            <a:ext cx="2944368" cy="1883664"/>
          </a:xfrm>
          <a:prstGeom prst="rect">
            <a:avLst/>
          </a:prstGeom>
          <a:noFill/>
          <a:ln/>
        </p:spPr>
        <p:txBody>
          <a:bodyPr wrap="square" lIns="0" tIns="0" rIns="0" bIns="0" rtlCol="0" anchor="t">
            <a:normAutofit/>
          </a:bodyPr>
          <a:lstStyle/>
          <a:p>
            <a:pPr marL="0" indent="0">
              <a:buNone/>
            </a:pPr>
            <a:r>
              <a:rPr lang="en-US" sz="1800" dirty="0">
                <a:solidFill>
                  <a:srgbClr val="475569"/>
                </a:solidFill>
                <a:latin typeface="Aptos" pitchFamily="34" charset="0"/>
                <a:ea typeface="Aptos" pitchFamily="34" charset="-122"/>
                <a:cs typeface="Aptos" pitchFamily="34" charset="-120"/>
              </a:rPr>
              <a:t>Jedes Problem hat einen konkreten, realistischen Vorschlag.</a:t>
            </a:r>
            <a:endParaRPr lang="en-US" sz="1800" dirty="0"/>
          </a:p>
        </p:txBody>
      </p:sp>
      <p:sp>
        <p:nvSpPr>
          <p:cNvPr id="17" name="Text 15"/>
          <p:cNvSpPr/>
          <p:nvPr/>
        </p:nvSpPr>
        <p:spPr>
          <a:xfrm>
            <a:off x="960120" y="4983480"/>
            <a:ext cx="1828800" cy="274320"/>
          </a:xfrm>
          <a:prstGeom prst="rect">
            <a:avLst/>
          </a:prstGeom>
          <a:noFill/>
          <a:ln/>
        </p:spPr>
        <p:txBody>
          <a:bodyPr wrap="square" lIns="0" tIns="0" rIns="0" bIns="0" rtlCol="0" anchor="ctr"/>
          <a:lstStyle/>
          <a:p>
            <a:pPr marL="0" indent="0">
              <a:buNone/>
            </a:pPr>
            <a:r>
              <a:rPr lang="en-US" sz="1600" b="1" dirty="0">
                <a:solidFill>
                  <a:srgbClr val="0F766E"/>
                </a:solidFill>
                <a:latin typeface="Aptos" pitchFamily="34" charset="0"/>
                <a:ea typeface="Aptos" pitchFamily="34" charset="-122"/>
                <a:cs typeface="Aptos" pitchFamily="34" charset="-120"/>
              </a:rPr>
              <a:t>Nächster Schritt</a:t>
            </a:r>
            <a:endParaRPr lang="en-US" sz="1600" dirty="0"/>
          </a:p>
        </p:txBody>
      </p:sp>
      <p:sp>
        <p:nvSpPr>
          <p:cNvPr id="18" name="Text 16"/>
          <p:cNvSpPr/>
          <p:nvPr/>
        </p:nvSpPr>
        <p:spPr>
          <a:xfrm>
            <a:off x="960120" y="5358384"/>
            <a:ext cx="10058400" cy="411480"/>
          </a:xfrm>
          <a:prstGeom prst="rect">
            <a:avLst/>
          </a:prstGeom>
          <a:noFill/>
          <a:ln/>
        </p:spPr>
        <p:txBody>
          <a:bodyPr wrap="square" lIns="0" tIns="0" rIns="0" bIns="0" rtlCol="0" anchor="ctr"/>
          <a:lstStyle/>
          <a:p>
            <a:pPr marL="0" indent="0">
              <a:buNone/>
            </a:pPr>
            <a:r>
              <a:rPr lang="en-US" sz="1900" dirty="0">
                <a:solidFill>
                  <a:srgbClr val="111827"/>
                </a:solidFill>
                <a:latin typeface="Aptos" pitchFamily="34" charset="0"/>
                <a:ea typeface="Aptos" pitchFamily="34" charset="-122"/>
                <a:cs typeface="Aptos" pitchFamily="34" charset="-120"/>
              </a:rPr>
              <a:t>Upload in Teams: 1 A4-Seite, Dateiname mit allen Namen. Inhalte können mündlich nachgefragt werden.</a:t>
            </a:r>
            <a:endParaRPr lang="en-US" sz="1900" dirty="0"/>
          </a:p>
        </p:txBody>
      </p:sp>
      <p:sp>
        <p:nvSpPr>
          <p:cNvPr id="19" name="Text 17"/>
          <p:cNvSpPr/>
          <p:nvPr/>
        </p:nvSpPr>
        <p:spPr>
          <a:xfrm>
            <a:off x="566928" y="6446520"/>
            <a:ext cx="48463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M322 · Usability-Bewertung · Woche 10–12</a:t>
            </a:r>
            <a:endParaRPr lang="en-US" sz="850" dirty="0"/>
          </a:p>
        </p:txBody>
      </p:sp>
      <p:sp>
        <p:nvSpPr>
          <p:cNvPr id="20" name="Text 18"/>
          <p:cNvSpPr/>
          <p:nvPr/>
        </p:nvSpPr>
        <p:spPr>
          <a:xfrm>
            <a:off x="11393424" y="6446520"/>
            <a:ext cx="41148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18</a:t>
            </a:r>
            <a:endParaRPr lang="en-US" sz="850" dirty="0"/>
          </a:p>
        </p:txBody>
      </p:sp>
      <p:sp>
        <p:nvSpPr>
          <p:cNvPr id="21" name="Text 19"/>
          <p:cNvSpPr/>
          <p:nvPr/>
        </p:nvSpPr>
        <p:spPr>
          <a:xfrm>
            <a:off x="7909560" y="6419088"/>
            <a:ext cx="310896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Arbeitsblatt: Abgabe &amp; Formales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EEF2D694014574E91AD775DBAF8A2AE" ma:contentTypeVersion="12" ma:contentTypeDescription="Ein neues Dokument erstellen." ma:contentTypeScope="" ma:versionID="ab5a0be52676d0c5a901476bf81798f5">
  <xsd:schema xmlns:xsd="http://www.w3.org/2001/XMLSchema" xmlns:xs="http://www.w3.org/2001/XMLSchema" xmlns:p="http://schemas.microsoft.com/office/2006/metadata/properties" xmlns:ns2="f03673b7-f2b9-4185-9252-fb0232b62000" xmlns:ns3="52055897-a0cf-4d17-9d65-d43b1af0c331" targetNamespace="http://schemas.microsoft.com/office/2006/metadata/properties" ma:root="true" ma:fieldsID="85268aedb641a081a369588b64843d18" ns2:_="" ns3:_="">
    <xsd:import namespace="f03673b7-f2b9-4185-9252-fb0232b62000"/>
    <xsd:import namespace="52055897-a0cf-4d17-9d65-d43b1af0c33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3673b7-f2b9-4185-9252-fb0232b62000"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16ba4c5-514f-471a-8004-1e490f97374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2055897-a0cf-4d17-9d65-d43b1af0c33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61aedd7-f288-4059-b50c-62283f402ba3}" ma:internalName="TaxCatchAll" ma:showField="CatchAllData" ma:web="52055897-a0cf-4d17-9d65-d43b1af0c33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3673b7-f2b9-4185-9252-fb0232b62000">
      <Terms xmlns="http://schemas.microsoft.com/office/infopath/2007/PartnerControls"/>
    </lcf76f155ced4ddcb4097134ff3c332f>
    <TaxCatchAll xmlns="52055897-a0cf-4d17-9d65-d43b1af0c331" xsi:nil="true"/>
  </documentManagement>
</p:properties>
</file>

<file path=customXml/itemProps1.xml><?xml version="1.0" encoding="utf-8"?>
<ds:datastoreItem xmlns:ds="http://schemas.openxmlformats.org/officeDocument/2006/customXml" ds:itemID="{B5D3E76C-D236-4E29-AA5B-A0054176E295}"/>
</file>

<file path=customXml/itemProps2.xml><?xml version="1.0" encoding="utf-8"?>
<ds:datastoreItem xmlns:ds="http://schemas.openxmlformats.org/officeDocument/2006/customXml" ds:itemID="{7E10CE89-EE1A-4A06-B185-75A8A0886477}"/>
</file>

<file path=customXml/itemProps3.xml><?xml version="1.0" encoding="utf-8"?>
<ds:datastoreItem xmlns:ds="http://schemas.openxmlformats.org/officeDocument/2006/customXml" ds:itemID="{FB5E8CD1-CF00-46D1-9911-0D533C2D81FF}"/>
</file>

<file path=docProps/app.xml><?xml version="1.0" encoding="utf-8"?>
<Properties xmlns="http://schemas.openxmlformats.org/officeDocument/2006/extended-properties" xmlns:vt="http://schemas.openxmlformats.org/officeDocument/2006/docPropsVTypes">
  <TotalTime>0</TotalTime>
  <Words>1989</Words>
  <Application>Microsoft Office PowerPoint</Application>
  <PresentationFormat>Breitbild</PresentationFormat>
  <Paragraphs>355</Paragraphs>
  <Slides>18</Slides>
  <Notes>18</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18</vt:i4>
      </vt:variant>
    </vt:vector>
  </HeadingPairs>
  <TitlesOfParts>
    <vt:vector size="23" baseType="lpstr">
      <vt:lpstr>Aptos</vt:lpstr>
      <vt:lpstr>Aptos Display</vt:lpstr>
      <vt:lpstr>Arial</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BBZW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M322 – Usability bewerten: Vom Bauchgefühl zum Beleg</dc:title>
  <dc:subject>M322 Usability Bewertungsbericht Woche 10-12</dc:subject>
  <dc:creator>Markus Ineichen</dc:creator>
  <cp:lastModifiedBy>Markus Ineichen</cp:lastModifiedBy>
  <cp:revision>1</cp:revision>
  <dcterms:created xsi:type="dcterms:W3CDTF">2026-05-11T19:13:43Z</dcterms:created>
  <dcterms:modified xsi:type="dcterms:W3CDTF">2026-05-11T19:22:16Z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0x0101001EEF2D694014574E91AD775DBAF8A2AE</vt:lpwstr>
  </property>
</Properties>
</file>