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201168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M322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22860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Woche 10 bis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1417320"/>
            <a:ext cx="7772400" cy="12344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4000" b="1">
                <a:solidFill>
                  <a:srgbClr val="1E293B"/>
                </a:solidFill>
                <a:latin typeface="Calibri"/>
              </a:rPr>
              <a:t>Usability-
Bewertungsbericht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4760" y="2788920"/>
            <a:ext cx="7498079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000" b="0">
                <a:solidFill>
                  <a:srgbClr val="64748B"/>
                </a:solidFill>
                <a:latin typeface="Calibri"/>
              </a:rPr>
              <a:t>Websites und Apps fachlich bewerten lernen</a:t>
            </a:r>
          </a:p>
        </p:txBody>
      </p:sp>
      <p:sp>
        <p:nvSpPr>
          <p:cNvPr id="7" name="Rectangle 6"/>
          <p:cNvSpPr/>
          <p:nvPr/>
        </p:nvSpPr>
        <p:spPr>
          <a:xfrm>
            <a:off x="3794760" y="3794760"/>
            <a:ext cx="7132320" cy="822960"/>
          </a:xfrm>
          <a:prstGeom prst="rect">
            <a:avLst/>
          </a:prstGeom>
          <a:solidFill>
            <a:srgbClr val="CCFBF1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23360" y="3977640"/>
            <a:ext cx="667512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2000" b="1">
                <a:solidFill>
                  <a:srgbClr val="0F766E"/>
                </a:solidFill>
                <a:latin typeface="Calibri"/>
              </a:rPr>
              <a:t>Nicht Bauchgefühl: Beobachten, begründen, verbessern.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5257800"/>
            <a:ext cx="75895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/>
              </a:rPr>
              <a:t>Zielprodukt: 1 A4-Bericht mit Belegen und konkreten Verbesserungen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Calibri"/>
              </a:rPr>
              <a:t>Einstieg: Welche Aussage ist brauchbar?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607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Von der Meinung zur fachlichen Beobachtung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38404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M322 | Usability-Bewertungsbericht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691640"/>
            <a:ext cx="4754880" cy="1280160"/>
          </a:xfrm>
          <a:prstGeom prst="rect">
            <a:avLst/>
          </a:prstGeom>
          <a:solidFill>
            <a:srgbClr val="FEE2E2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691640"/>
            <a:ext cx="73152" cy="1280160"/>
          </a:xfrm>
          <a:prstGeom prst="rect">
            <a:avLst/>
          </a:prstGeom>
          <a:solidFill>
            <a:srgbClr val="B91C1C"/>
          </a:solidFill>
          <a:ln w="127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856232"/>
            <a:ext cx="4389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Calibri"/>
              </a:rPr>
              <a:t>Aussage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2331720"/>
            <a:ext cx="4297680" cy="50291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Die Seite ist hässlich.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691640"/>
            <a:ext cx="4892040" cy="1600200"/>
          </a:xfrm>
          <a:prstGeom prst="rect">
            <a:avLst/>
          </a:prstGeom>
          <a:solidFill>
            <a:srgbClr val="DCFCE7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691640"/>
            <a:ext cx="73152" cy="1600200"/>
          </a:xfrm>
          <a:prstGeom prst="rect">
            <a:avLst/>
          </a:prstGeom>
          <a:solidFill>
            <a:srgbClr val="166534"/>
          </a:solidFill>
          <a:ln w="127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856232"/>
            <a:ext cx="4526279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Calibri"/>
              </a:rPr>
              <a:t>Aussage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331720"/>
            <a:ext cx="443484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Calibri"/>
              </a:rPr>
              <a:t>Der primäre Button ist erst nach Scrollen sichtbar. Dadurch wird die Anmeldung langsamer.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3703320"/>
            <a:ext cx="1417320" cy="320040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Kurzauftrag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206240"/>
            <a:ext cx="9966960" cy="1463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- Welche Aussage ist für einen Bericht brauchbar?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- Woran erkennt man eine objektive Beobachtung?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- Welche Usability-Regel könnte verletzt sein?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Calibri"/>
              </a:rPr>
              <a:t>Lernziele der Sequenz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607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Nach Woche 10 bis 12 könnt ihr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38404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M322 | Usability-Bewertungsbericht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0241280" cy="2834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400">
                <a:solidFill>
                  <a:srgbClr val="1E293B"/>
                </a:solidFill>
                <a:latin typeface="Calibri"/>
              </a:rPr>
              <a:t>- Usability mit Regeln bewerten, nicht nach Geschmack.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E293B"/>
                </a:solidFill>
                <a:latin typeface="Calibri"/>
              </a:rPr>
              <a:t>- Findings so dokumentieren, dass andere sie nachvollziehen können.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E293B"/>
                </a:solidFill>
                <a:latin typeface="Calibri"/>
              </a:rPr>
              <a:t>- Aus vielen Issues die wichtigsten Top-5 auswählen.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E293B"/>
                </a:solidFill>
                <a:latin typeface="Calibri"/>
              </a:rPr>
              <a:t>- Einen kurzen, sachlichen Bewertungsbericht mit konkreten Verbesserungen schreiben.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983480"/>
            <a:ext cx="10241280" cy="777240"/>
          </a:xfrm>
          <a:prstGeom prst="rect">
            <a:avLst/>
          </a:prstGeom>
          <a:solidFill>
            <a:srgbClr val="CCFBF1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5166360"/>
            <a:ext cx="9784080" cy="59435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2000" b="1">
                <a:solidFill>
                  <a:srgbClr val="0F766E"/>
                </a:solidFill>
                <a:latin typeface="Calibri"/>
              </a:rPr>
              <a:t>Beobachtung -&gt; Regel -&gt; Wirkung -&gt; Verbesserung -&gt; Beleg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Calibri"/>
              </a:rPr>
              <a:t>Agenda: vollständige Handlung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607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Die drei Wochen bauen aufeinander auf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38404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M322 | Usability-Bewertungsbericht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45920"/>
            <a:ext cx="3429000" cy="2743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645920"/>
            <a:ext cx="73152" cy="2743200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05840" y="1810512"/>
            <a:ext cx="384048" cy="310896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847088"/>
            <a:ext cx="384048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810512"/>
            <a:ext cx="24688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Calibri"/>
              </a:rPr>
              <a:t>Woche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286000"/>
            <a:ext cx="2971800" cy="1965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- Informieren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- Planen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- Entscheiden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- Output: Evaluationsplan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1645920"/>
            <a:ext cx="3429000" cy="2743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1645920"/>
            <a:ext cx="73152" cy="2743200"/>
          </a:xfrm>
          <a:prstGeom prst="rect">
            <a:avLst/>
          </a:prstGeom>
          <a:solidFill>
            <a:srgbClr val="2563EB"/>
          </a:solidFill>
          <a:ln w="12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663440" y="1810512"/>
            <a:ext cx="384048" cy="310896"/>
          </a:xfrm>
          <a:prstGeom prst="rect">
            <a:avLst/>
          </a:prstGeom>
          <a:solidFill>
            <a:srgbClr val="2563EB"/>
          </a:solidFill>
          <a:ln w="12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1847088"/>
            <a:ext cx="384048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59" y="1810512"/>
            <a:ext cx="24688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Calibri"/>
              </a:rPr>
              <a:t>Woche 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2286000"/>
            <a:ext cx="2971800" cy="1965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- Ausführen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- Kontrollieren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- Issue Log erstellen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- Output: Top-5 Findings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2440" y="1645920"/>
            <a:ext cx="3429000" cy="2743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92440" y="1645920"/>
            <a:ext cx="73152" cy="2743200"/>
          </a:xfrm>
          <a:prstGeom prst="rect">
            <a:avLst/>
          </a:prstGeom>
          <a:solidFill>
            <a:srgbClr val="D97706"/>
          </a:solidFill>
          <a:ln w="127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321040" y="1810512"/>
            <a:ext cx="384048" cy="310896"/>
          </a:xfrm>
          <a:prstGeom prst="rect">
            <a:avLst/>
          </a:prstGeom>
          <a:solidFill>
            <a:srgbClr val="D97706"/>
          </a:solidFill>
          <a:ln w="127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21040" y="1847088"/>
            <a:ext cx="384048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1810512"/>
            <a:ext cx="24688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Calibri"/>
              </a:rPr>
              <a:t>Woche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2286000"/>
            <a:ext cx="2971800" cy="1965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- Bewerten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- Bericht schreiben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- Peer-Review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- Output: 1 A4-Bericht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34440" y="5074920"/>
            <a:ext cx="9692640" cy="685800"/>
          </a:xfrm>
          <a:prstGeom prst="rect">
            <a:avLst/>
          </a:prstGeom>
          <a:solidFill>
            <a:srgbClr val="CCFBF1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463040" y="5257800"/>
            <a:ext cx="923544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2000" b="1">
                <a:solidFill>
                  <a:srgbClr val="0F766E"/>
                </a:solidFill>
                <a:latin typeface="Calibri"/>
              </a:rPr>
              <a:t>Input nur so viel wie nötig - danach direkt anwenden.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Calibri"/>
              </a:rPr>
              <a:t>Was wird bewertet?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607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Die Rubrik als Orientierung für euren Bericht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38404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M322 | Usability-Bewertungsbericht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45920"/>
            <a:ext cx="3291840" cy="12344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73152" cy="1234440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810512"/>
            <a:ext cx="29260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Calibri"/>
              </a:rPr>
              <a:t>Struktur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286000"/>
            <a:ext cx="283464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Einleitung, Hauptteil, Fazit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645920"/>
            <a:ext cx="3291840" cy="12344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663440" y="1645920"/>
            <a:ext cx="73152" cy="1234440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92040" y="1810512"/>
            <a:ext cx="29260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Calibri"/>
              </a:rPr>
              <a:t>Vollständigkeit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9472" y="2286000"/>
            <a:ext cx="283464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Stärken und Probleme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1645920"/>
            <a:ext cx="3291840" cy="12344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503920" y="1645920"/>
            <a:ext cx="73152" cy="1234440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32520" y="1810512"/>
            <a:ext cx="29260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Calibri"/>
              </a:rPr>
              <a:t>Regeln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2" y="2286000"/>
            <a:ext cx="283464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ISO oder Nielsen korrekt anwenden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474720"/>
            <a:ext cx="3291840" cy="12344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" y="3474720"/>
            <a:ext cx="73152" cy="1234440"/>
          </a:xfrm>
          <a:prstGeom prst="rect">
            <a:avLst/>
          </a:prstGeom>
          <a:solidFill>
            <a:srgbClr val="2563EB"/>
          </a:solidFill>
          <a:ln w="12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3639312"/>
            <a:ext cx="29260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Calibri"/>
              </a:rPr>
              <a:t>Belege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4114800"/>
            <a:ext cx="283464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objektiv und nachvollziehbar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3474720"/>
            <a:ext cx="3291840" cy="12344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663440" y="3474720"/>
            <a:ext cx="73152" cy="1234440"/>
          </a:xfrm>
          <a:prstGeom prst="rect">
            <a:avLst/>
          </a:prstGeom>
          <a:solidFill>
            <a:srgbClr val="2563EB"/>
          </a:solidFill>
          <a:ln w="12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92040" y="3639312"/>
            <a:ext cx="29260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Calibri"/>
              </a:rPr>
              <a:t>Verbesserungen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19472" y="4114800"/>
            <a:ext cx="283464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konkret und realistisch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3474720"/>
            <a:ext cx="3291840" cy="12344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503920" y="3474720"/>
            <a:ext cx="73152" cy="1234440"/>
          </a:xfrm>
          <a:prstGeom prst="rect">
            <a:avLst/>
          </a:prstGeom>
          <a:solidFill>
            <a:srgbClr val="2563EB"/>
          </a:solidFill>
          <a:ln w="12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32520" y="3639312"/>
            <a:ext cx="29260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Calibri"/>
              </a:rPr>
              <a:t>Darstellung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9952" y="4114800"/>
            <a:ext cx="283464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sachlich, lesbar, visuell klar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34440" y="5349240"/>
            <a:ext cx="9692640" cy="594360"/>
          </a:xfrm>
          <a:prstGeom prst="rect">
            <a:avLst/>
          </a:prstGeom>
          <a:solidFill>
            <a:srgbClr val="CCFBF1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463040" y="5532120"/>
            <a:ext cx="923544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2000" b="1">
                <a:solidFill>
                  <a:srgbClr val="0F766E"/>
                </a:solidFill>
                <a:latin typeface="Calibri"/>
              </a:rPr>
              <a:t>Merksatz: Weniger Text, mehr Belegkraft.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Calibri"/>
              </a:rPr>
              <a:t>Heuristische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607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Systematisch bewerten statt spontan urteilen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38404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M322 | Usability-Bewertungsbericht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600200"/>
            <a:ext cx="5212080" cy="29718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600200"/>
            <a:ext cx="73152" cy="2971800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764792"/>
            <a:ext cx="48463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Calibri"/>
              </a:rPr>
              <a:t>Was ist das?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2221992"/>
            <a:ext cx="4754880" cy="2286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- Eine Website oder App wird mit Usability-Regeln verglichen.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- Es wird notiert, wo Nutzende gebremst werden.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- Am Ende entstehen Findings mit Belegen.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600200"/>
            <a:ext cx="5212080" cy="29718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55080" y="1600200"/>
            <a:ext cx="73152" cy="2971800"/>
          </a:xfrm>
          <a:prstGeom prst="rect">
            <a:avLst/>
          </a:prstGeom>
          <a:solidFill>
            <a:srgbClr val="2563EB"/>
          </a:solidFill>
          <a:ln w="12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764792"/>
            <a:ext cx="48463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Calibri"/>
              </a:rPr>
              <a:t>Wichtig für die Klasse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221992"/>
            <a:ext cx="4754880" cy="2286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- Nicht: Ich finde es schön oder hässlich.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- Sondern: Beobachtung plus Wirkung.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- Jede Aussage braucht Ort, Regel und Beleg.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5166360"/>
            <a:ext cx="10058400" cy="685800"/>
          </a:xfrm>
          <a:prstGeom prst="rect">
            <a:avLst/>
          </a:prstGeom>
          <a:solidFill>
            <a:srgbClr val="CCFBF1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440" y="5349240"/>
            <a:ext cx="960120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2000" b="1">
                <a:solidFill>
                  <a:srgbClr val="0F766E"/>
                </a:solidFill>
                <a:latin typeface="Calibri"/>
              </a:rPr>
              <a:t>Eine gute Evaluation macht Probleme sichtbar, damit sie verbessert werden können.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Calibri"/>
              </a:rPr>
              <a:t>Zwei Regelwerke - eines konsequent nutzen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607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Für den Bericht wird ISO oder Nielsen/Molich gewählt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38404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M322 | Usability-Bewertungsbericht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691640"/>
            <a:ext cx="5029200" cy="23774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691640"/>
            <a:ext cx="73152" cy="2377440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856232"/>
            <a:ext cx="46634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Calibri"/>
              </a:rPr>
              <a:t>ISO 9241-110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2313432"/>
            <a:ext cx="4572000" cy="1691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600">
                <a:solidFill>
                  <a:srgbClr val="1E293B"/>
                </a:solidFill>
                <a:latin typeface="Calibri"/>
              </a:rPr>
              <a:t>- 7 Dialogprinzipien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1E293B"/>
                </a:solidFill>
                <a:latin typeface="Calibri"/>
              </a:rPr>
              <a:t>- gut für klare Begriffe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1E293B"/>
                </a:solidFill>
                <a:latin typeface="Calibri"/>
              </a:rPr>
              <a:t>- z. B. Aufgabenangemessenheit, Fehlertoleranz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691640"/>
            <a:ext cx="5029200" cy="23774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691640"/>
            <a:ext cx="73152" cy="2377440"/>
          </a:xfrm>
          <a:prstGeom prst="rect">
            <a:avLst/>
          </a:prstGeom>
          <a:solidFill>
            <a:srgbClr val="2563EB"/>
          </a:solidFill>
          <a:ln w="12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856232"/>
            <a:ext cx="46634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Calibri"/>
              </a:rPr>
              <a:t>Nielsen/Molich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313432"/>
            <a:ext cx="4572000" cy="1691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600">
                <a:solidFill>
                  <a:srgbClr val="1E293B"/>
                </a:solidFill>
                <a:latin typeface="Calibri"/>
              </a:rPr>
              <a:t>- 10 Heuristiken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1E293B"/>
                </a:solidFill>
                <a:latin typeface="Calibri"/>
              </a:rPr>
              <a:t>- gut für schnelle Evaluationen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1E293B"/>
                </a:solidFill>
                <a:latin typeface="Calibri"/>
              </a:rPr>
              <a:t>- z. B. Systemstatus, Konsistenz, Fehler vermeiden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5074920"/>
            <a:ext cx="9875520" cy="731520"/>
          </a:xfrm>
          <a:prstGeom prst="rect">
            <a:avLst/>
          </a:prstGeom>
          <a:solidFill>
            <a:srgbClr val="CCFBF1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71600" y="5257800"/>
            <a:ext cx="941832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2000" b="1">
                <a:solidFill>
                  <a:srgbClr val="0F766E"/>
                </a:solidFill>
                <a:latin typeface="Calibri"/>
              </a:rPr>
              <a:t>Ein Regelwerk reicht - aber es muss konsequent angewendet werden.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Calibri"/>
              </a:rPr>
              <a:t>ISO 9241-110: 7 Prinzipien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607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Kurzliste für eure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38404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M322 | Usability-Bewertungsbericht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5257800" cy="8686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417320"/>
            <a:ext cx="73152" cy="868680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536192"/>
            <a:ext cx="48920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Aufgabenangemessenheit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20240"/>
            <a:ext cx="489204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hilft beim Ziel, ohne unnötige Schritte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417320"/>
            <a:ext cx="5257800" cy="8686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1417320"/>
            <a:ext cx="73152" cy="868680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1536192"/>
            <a:ext cx="48920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Selbstbeschreibungsfähigkeit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1920240"/>
            <a:ext cx="489204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zeigt Zustand, Ort und nächste Schritte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496312"/>
            <a:ext cx="5257800" cy="8686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2496312"/>
            <a:ext cx="73152" cy="868680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2615184"/>
            <a:ext cx="48920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Erwartungskonformität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999232"/>
            <a:ext cx="489204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entspricht bekannten Mustern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496312"/>
            <a:ext cx="5257800" cy="8686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0" y="2496312"/>
            <a:ext cx="73152" cy="868680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29400" y="2615184"/>
            <a:ext cx="48920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Erlernbarkeit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999232"/>
            <a:ext cx="489204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macht den Einstieg leicht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3575304"/>
            <a:ext cx="5257800" cy="8686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77240" y="3575304"/>
            <a:ext cx="73152" cy="868680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3694176"/>
            <a:ext cx="48920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Steuerbarkeit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078224"/>
            <a:ext cx="489204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Nutzende behalten Kontrolle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575304"/>
            <a:ext cx="5257800" cy="8686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0" y="3575304"/>
            <a:ext cx="73152" cy="868680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29400" y="3694176"/>
            <a:ext cx="48920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Fehlertoleranz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078224"/>
            <a:ext cx="489204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Fehler vermeiden oder gut korrigieren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654296"/>
            <a:ext cx="10881360" cy="8686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77240" y="4654296"/>
            <a:ext cx="73152" cy="868680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05840" y="4773168"/>
            <a:ext cx="105156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Benutzerbindung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157216"/>
            <a:ext cx="105156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motiviert und schafft Vertrauen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Calibri"/>
              </a:rPr>
              <a:t>Nielsen/Molich: 10 Heuristiken bündeln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607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So bleiben die Regeln übersichtlich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38404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M322 | Usability-Bewertungsbericht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45920"/>
            <a:ext cx="3520440" cy="25146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645920"/>
            <a:ext cx="73152" cy="2514600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810512"/>
            <a:ext cx="31546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Calibri"/>
              </a:rPr>
              <a:t>Orientierung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267712"/>
            <a:ext cx="3063240" cy="1828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- Systemstatus sichtbar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- Sprache aus der realen Welt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- Hilfe und Dokumentation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645920"/>
            <a:ext cx="3520440" cy="25146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645920"/>
            <a:ext cx="73152" cy="2514600"/>
          </a:xfrm>
          <a:prstGeom prst="rect">
            <a:avLst/>
          </a:prstGeom>
          <a:solidFill>
            <a:srgbClr val="2563EB"/>
          </a:solidFill>
          <a:ln w="12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1810512"/>
            <a:ext cx="31546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Calibri"/>
              </a:rPr>
              <a:t>Kontrolle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267712"/>
            <a:ext cx="3063240" cy="1828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- Nutzerkontrolle und Freiheit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- Fehler vermeiden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- Fehler erkennen und beheben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645920"/>
            <a:ext cx="3520440" cy="25146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645920"/>
            <a:ext cx="73152" cy="2514600"/>
          </a:xfrm>
          <a:prstGeom prst="rect">
            <a:avLst/>
          </a:prstGeom>
          <a:solidFill>
            <a:srgbClr val="D97706"/>
          </a:solidFill>
          <a:ln w="127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1810512"/>
            <a:ext cx="31546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Calibri"/>
              </a:rPr>
              <a:t>Effizienz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1" y="2267712"/>
            <a:ext cx="3063240" cy="1828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- Konsistenz und Standards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- Wiedererkennen statt Erinnern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- Flexibilität und effiziente Nutzung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- Minimalistisches Design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34440" y="5120640"/>
            <a:ext cx="9692640" cy="685800"/>
          </a:xfrm>
          <a:prstGeom prst="rect">
            <a:avLst/>
          </a:prstGeom>
          <a:solidFill>
            <a:srgbClr val="CCFBF1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63040" y="5303520"/>
            <a:ext cx="923544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2000" b="1">
                <a:solidFill>
                  <a:srgbClr val="0F766E"/>
                </a:solidFill>
                <a:latin typeface="Calibri"/>
              </a:rPr>
              <a:t>Pro Finding die passendste Regel wählen - nicht möglichst viele.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Calibri"/>
              </a:rPr>
              <a:t>Vom Eindruck zum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607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Ein Finding ist kurz, belegbar und handlungsorientiert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38404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M322 | Usability-Bewertungsbericht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00200"/>
            <a:ext cx="3337560" cy="13258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600200"/>
            <a:ext cx="73152" cy="1325880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764792"/>
            <a:ext cx="29718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Calibri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240280"/>
            <a:ext cx="288036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Was ist konkret passiert?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600200"/>
            <a:ext cx="3337560" cy="13258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617720" y="1600200"/>
            <a:ext cx="73152" cy="1325880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0" y="1764792"/>
            <a:ext cx="29718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Calibri"/>
              </a:rPr>
              <a:t>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3752" y="2240280"/>
            <a:ext cx="288036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Wo tritt es auf?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58200" y="1600200"/>
            <a:ext cx="3337560" cy="13258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58200" y="1600200"/>
            <a:ext cx="73152" cy="1325880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0" y="1764792"/>
            <a:ext cx="29718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Calibri"/>
              </a:rPr>
              <a:t>Regel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4232" y="2240280"/>
            <a:ext cx="288036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Welche ISO-Regel oder Heuristik passt?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474720"/>
            <a:ext cx="3337560" cy="13258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" y="3474720"/>
            <a:ext cx="73152" cy="1325880"/>
          </a:xfrm>
          <a:prstGeom prst="rect">
            <a:avLst/>
          </a:prstGeom>
          <a:solidFill>
            <a:srgbClr val="2563EB"/>
          </a:solidFill>
          <a:ln w="12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3639312"/>
            <a:ext cx="29718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Calibri"/>
              </a:rPr>
              <a:t>Wirkung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1" y="4114800"/>
            <a:ext cx="288036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Wie stört es die Aufgabe?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7720" y="3474720"/>
            <a:ext cx="3337560" cy="13258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617720" y="3474720"/>
            <a:ext cx="73152" cy="1325880"/>
          </a:xfrm>
          <a:prstGeom prst="rect">
            <a:avLst/>
          </a:prstGeom>
          <a:solidFill>
            <a:srgbClr val="2563EB"/>
          </a:solidFill>
          <a:ln w="12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46320" y="3639312"/>
            <a:ext cx="29718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Calibri"/>
              </a:rPr>
              <a:t>Empfehlung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3752" y="4114800"/>
            <a:ext cx="288036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Welche konkrete Änderung hilft?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58200" y="3474720"/>
            <a:ext cx="3337560" cy="13258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458200" y="3474720"/>
            <a:ext cx="73152" cy="1325880"/>
          </a:xfrm>
          <a:prstGeom prst="rect">
            <a:avLst/>
          </a:prstGeom>
          <a:solidFill>
            <a:srgbClr val="2563EB"/>
          </a:solidFill>
          <a:ln w="12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0" y="3639312"/>
            <a:ext cx="29718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Calibri"/>
              </a:rPr>
              <a:t>Beleg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14232" y="4114800"/>
            <a:ext cx="288036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Screenshot, Markierung oder Tabelle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" y="5440680"/>
            <a:ext cx="10058400" cy="548640"/>
          </a:xfrm>
          <a:prstGeom prst="rect">
            <a:avLst/>
          </a:prstGeom>
          <a:solidFill>
            <a:srgbClr val="CCFBF1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88720" y="5623560"/>
            <a:ext cx="9601200" cy="36575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2000" b="1">
                <a:solidFill>
                  <a:srgbClr val="0F766E"/>
                </a:solidFill>
                <a:latin typeface="Calibri"/>
              </a:rPr>
              <a:t>Format für das Issue Log: Problem - Ort - Regel - Wirkung - Empfehlung - Beleg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Calibri"/>
              </a:rPr>
              <a:t>Beispiel: Aufgabenangemessenheit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607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Ein Formular fragt nur ab, was für die Aufgabe nötig 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38404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M322 | Usability-Bewertungsbericht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645920"/>
            <a:ext cx="3657600" cy="2560320"/>
          </a:xfrm>
          <a:prstGeom prst="rect">
            <a:avLst/>
          </a:prstGeom>
          <a:solidFill>
            <a:srgbClr val="DCFCE7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645920"/>
            <a:ext cx="73152" cy="2560320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810512"/>
            <a:ext cx="32918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Calibri"/>
              </a:rPr>
              <a:t>Beobachtung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2267712"/>
            <a:ext cx="3200400" cy="187451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- Registrierung mit wenigen Feldern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- keine unnötigen Zusatzangaben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- klare Primäraktion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1645920"/>
            <a:ext cx="3291840" cy="256032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09160" y="1645920"/>
            <a:ext cx="73152" cy="2560320"/>
          </a:xfrm>
          <a:prstGeom prst="rect">
            <a:avLst/>
          </a:prstGeom>
          <a:solidFill>
            <a:srgbClr val="2563EB"/>
          </a:solidFill>
          <a:ln w="12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0" y="1810512"/>
            <a:ext cx="29260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Calibri"/>
              </a:rPr>
              <a:t>Regel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65192" y="2286000"/>
            <a:ext cx="2834640" cy="178307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Calibri"/>
              </a:rPr>
              <a:t>ISO: Aufgabenangemessenheit
oder Nielsen: Flexibilität und effiziente Nutzung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1645920"/>
            <a:ext cx="3429000" cy="2560320"/>
          </a:xfrm>
          <a:prstGeom prst="rect">
            <a:avLst/>
          </a:prstGeom>
          <a:solidFill>
            <a:srgbClr val="FEF3C7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83879" y="1645920"/>
            <a:ext cx="73152" cy="2560320"/>
          </a:xfrm>
          <a:prstGeom prst="rect">
            <a:avLst/>
          </a:prstGeom>
          <a:solidFill>
            <a:srgbClr val="D97706"/>
          </a:solidFill>
          <a:ln w="127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1810512"/>
            <a:ext cx="30632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Calibri"/>
              </a:rPr>
              <a:t>Berichtssatz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1" y="2286000"/>
            <a:ext cx="2971800" cy="178307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Das Formular unterstützt die Aufgabe, weil nur notwendige Daten abgefragt werden. Dadurch wird die Registrierung schneller.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5074920"/>
            <a:ext cx="10058400" cy="731520"/>
          </a:xfrm>
          <a:prstGeom prst="rect">
            <a:avLst/>
          </a:prstGeom>
          <a:solidFill>
            <a:srgbClr val="CCFBF1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5257800"/>
            <a:ext cx="960120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2000" b="1">
                <a:solidFill>
                  <a:srgbClr val="0F766E"/>
                </a:solidFill>
                <a:latin typeface="Calibri"/>
              </a:rPr>
              <a:t>Nicht alles aus dem PDF übernehmen - nur das Prinzip auf den eigenen Fall anwenden.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Calibri"/>
              </a:rPr>
              <a:t>Beispiel: Systemstatus und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607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Nutzende müssen erkennen, ob das System arbeitet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38404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M322 | Usability-Bewertungsbericht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691640"/>
            <a:ext cx="5074920" cy="25603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691640"/>
            <a:ext cx="73152" cy="2560320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856232"/>
            <a:ext cx="4709159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Calibri"/>
              </a:rPr>
              <a:t>Gutes Feedback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2313432"/>
            <a:ext cx="4617720" cy="187451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600">
                <a:solidFill>
                  <a:srgbClr val="1E293B"/>
                </a:solidFill>
                <a:latin typeface="Calibri"/>
              </a:rPr>
              <a:t>- Ladezustand sichtbar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1E293B"/>
                </a:solidFill>
                <a:latin typeface="Calibri"/>
              </a:rPr>
              <a:t>- Aktion wird bestätigt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1E293B"/>
                </a:solidFill>
                <a:latin typeface="Calibri"/>
              </a:rPr>
              <a:t>- keine unnötigen Mehrfachklicks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691640"/>
            <a:ext cx="5074920" cy="25603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691640"/>
            <a:ext cx="73152" cy="2560320"/>
          </a:xfrm>
          <a:prstGeom prst="rect">
            <a:avLst/>
          </a:prstGeom>
          <a:solidFill>
            <a:srgbClr val="2563EB"/>
          </a:solidFill>
          <a:ln w="12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856232"/>
            <a:ext cx="4709159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Calibri"/>
              </a:rPr>
              <a:t>Finding-Beispiel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331720"/>
            <a:ext cx="4617720" cy="178307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Calibri"/>
              </a:rPr>
              <a:t>Nach dem Klick auf Merken erscheint sofort eine Bestätigung. Das erhöht die Selbstbeschreibungsfähigkeit.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34440" y="5166360"/>
            <a:ext cx="9692640" cy="685800"/>
          </a:xfrm>
          <a:prstGeom prst="rect">
            <a:avLst/>
          </a:prstGeom>
          <a:solidFill>
            <a:srgbClr val="CCFBF1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63040" y="5349240"/>
            <a:ext cx="923544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2000" b="1">
                <a:solidFill>
                  <a:srgbClr val="0F766E"/>
                </a:solidFill>
                <a:latin typeface="Calibri"/>
              </a:rPr>
              <a:t>Prüffrage: Weiss die nutzende Person gerade, was passiert ist?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Calibri"/>
              </a:rPr>
              <a:t>Beispiel: Fehlertoleranz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607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Gute Fehlermeldungen helfen beim Korrigieren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38404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M322 | Usability-Bewertungsbericht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691640"/>
            <a:ext cx="5074920" cy="2560320"/>
          </a:xfrm>
          <a:prstGeom prst="rect">
            <a:avLst/>
          </a:prstGeom>
          <a:solidFill>
            <a:srgbClr val="FEE2E2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691640"/>
            <a:ext cx="73152" cy="2560320"/>
          </a:xfrm>
          <a:prstGeom prst="rect">
            <a:avLst/>
          </a:prstGeom>
          <a:solidFill>
            <a:srgbClr val="B91C1C"/>
          </a:solidFill>
          <a:ln w="127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856232"/>
            <a:ext cx="4709159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Calibri"/>
              </a:rPr>
              <a:t>Schwach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2313432"/>
            <a:ext cx="4617720" cy="187451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600">
                <a:solidFill>
                  <a:srgbClr val="1E293B"/>
                </a:solidFill>
                <a:latin typeface="Calibri"/>
              </a:rPr>
              <a:t>- Feld ist nur rot markiert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1E293B"/>
                </a:solidFill>
                <a:latin typeface="Calibri"/>
              </a:rPr>
              <a:t>- Meldung ist ungenau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1E293B"/>
                </a:solidFill>
                <a:latin typeface="Calibri"/>
              </a:rPr>
              <a:t>- Nutzende müssen raten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691640"/>
            <a:ext cx="5074920" cy="2560320"/>
          </a:xfrm>
          <a:prstGeom prst="rect">
            <a:avLst/>
          </a:prstGeom>
          <a:solidFill>
            <a:srgbClr val="DCFCE7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691640"/>
            <a:ext cx="73152" cy="2560320"/>
          </a:xfrm>
          <a:prstGeom prst="rect">
            <a:avLst/>
          </a:prstGeom>
          <a:solidFill>
            <a:srgbClr val="166534"/>
          </a:solidFill>
          <a:ln w="127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856232"/>
            <a:ext cx="4709159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Calibri"/>
              </a:rPr>
              <a:t>Besser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313432"/>
            <a:ext cx="4617720" cy="187451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600">
                <a:solidFill>
                  <a:srgbClr val="1E293B"/>
                </a:solidFill>
                <a:latin typeface="Calibri"/>
              </a:rPr>
              <a:t>- Fehler direkt am Feld erklären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1E293B"/>
                </a:solidFill>
                <a:latin typeface="Calibri"/>
              </a:rPr>
              <a:t>- Formatbeispiel anzeigen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1E293B"/>
                </a:solidFill>
                <a:latin typeface="Calibri"/>
              </a:rPr>
              <a:t>- Daten nicht löschen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074920"/>
            <a:ext cx="10332720" cy="822960"/>
          </a:xfrm>
          <a:prstGeom prst="rect">
            <a:avLst/>
          </a:prstGeom>
          <a:solidFill>
            <a:srgbClr val="CCFBF1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5257800"/>
            <a:ext cx="987552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800" b="1">
                <a:solidFill>
                  <a:srgbClr val="0F766E"/>
                </a:solidFill>
                <a:latin typeface="Calibri"/>
              </a:rPr>
              <a:t>Berichtssatz: Die Telefonnummer wird abgelehnt, aber das erlaubte Format ist unklar. Fix: Beispiel direkt unter dem Feld anzeigen.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Calibri"/>
              </a:rPr>
              <a:t>Arbeitsphase Woche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607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Evaluationsplan erstellen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38404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M322 | Usability-Bewertungsbericht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508760"/>
            <a:ext cx="1691640" cy="320040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40 bis 70 Minuten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5760720" cy="2468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- Produkt, Persona und Ziel festlegen.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- Drei Top-Tasks formulieren.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- Regelwerk wählen: ISO oder Nielsen/Molich.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- Rollen verteilen und Belege einplanen.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828800"/>
            <a:ext cx="3886200" cy="26517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1828800"/>
            <a:ext cx="73152" cy="2651760"/>
          </a:xfrm>
          <a:prstGeom prst="rect">
            <a:avLst/>
          </a:prstGeom>
          <a:solidFill>
            <a:srgbClr val="D97706"/>
          </a:solidFill>
          <a:ln w="127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43800" y="1993392"/>
            <a:ext cx="35204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Calibri"/>
              </a:rPr>
              <a:t>Zwischenstand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71231" y="2450592"/>
            <a:ext cx="3429000" cy="1965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- Evaluationsplan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- 1 positives Finding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- 1 negatives Finding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- jeweils mit Regel und Beleg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5257800"/>
            <a:ext cx="10241280" cy="658368"/>
          </a:xfrm>
          <a:prstGeom prst="rect">
            <a:avLst/>
          </a:prstGeom>
          <a:solidFill>
            <a:srgbClr val="CCFBF1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440680"/>
            <a:ext cx="9784080" cy="4754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2000" b="1">
                <a:solidFill>
                  <a:srgbClr val="0F766E"/>
                </a:solidFill>
                <a:latin typeface="Calibri"/>
              </a:rPr>
              <a:t>KI-Hilfe ist erlaubt zum Strukturieren und Formulieren - nichts erfinden.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Calibri"/>
              </a:rPr>
              <a:t>Arbeitsphase Woche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607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Heuristische Evaluation durchführen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38404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M322 | Usability-Bewertungsbericht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691640"/>
            <a:ext cx="5074920" cy="25603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691640"/>
            <a:ext cx="73152" cy="2560320"/>
          </a:xfrm>
          <a:prstGeom prst="rect">
            <a:avLst/>
          </a:prstGeom>
          <a:solidFill>
            <a:srgbClr val="2563EB"/>
          </a:solidFill>
          <a:ln w="12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856232"/>
            <a:ext cx="4709159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Calibri"/>
              </a:rPr>
              <a:t>Durchlauf 1: Task-Flow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2313432"/>
            <a:ext cx="4617720" cy="187451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600">
                <a:solidFill>
                  <a:srgbClr val="1E293B"/>
                </a:solidFill>
                <a:latin typeface="Calibri"/>
              </a:rPr>
              <a:t>- Tasks 1 bis 3 durchspielen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1E293B"/>
                </a:solidFill>
                <a:latin typeface="Calibri"/>
              </a:rPr>
              <a:t>- Bremsen und Unklarheiten sammeln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1E293B"/>
                </a:solidFill>
                <a:latin typeface="Calibri"/>
              </a:rPr>
              <a:t>- noch nicht perfektionieren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691640"/>
            <a:ext cx="5074920" cy="25603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691640"/>
            <a:ext cx="73152" cy="2560320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856232"/>
            <a:ext cx="4709159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Calibri"/>
              </a:rPr>
              <a:t>Durchlauf 2: Detail-Check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313432"/>
            <a:ext cx="4617720" cy="187451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600">
                <a:solidFill>
                  <a:srgbClr val="1E293B"/>
                </a:solidFill>
                <a:latin typeface="Calibri"/>
              </a:rPr>
              <a:t>- Navigation und Verständlichkeit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1E293B"/>
                </a:solidFill>
                <a:latin typeface="Calibri"/>
              </a:rPr>
              <a:t>- Konsistenz, Feedback, Fehler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1E293B"/>
                </a:solidFill>
                <a:latin typeface="Calibri"/>
              </a:rPr>
              <a:t>- Screenshots und Markierungen sammeln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5166360"/>
            <a:ext cx="9875520" cy="685800"/>
          </a:xfrm>
          <a:prstGeom prst="rect">
            <a:avLst/>
          </a:prstGeom>
          <a:solidFill>
            <a:srgbClr val="CCFBF1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71600" y="5349240"/>
            <a:ext cx="941832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2000" b="1">
                <a:solidFill>
                  <a:srgbClr val="0F766E"/>
                </a:solidFill>
                <a:latin typeface="Calibri"/>
              </a:rPr>
              <a:t>Arbeitsregel: Beobachtung plus Wirkung schreiben, nicht persönliche Wertung.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Calibri"/>
              </a:rPr>
              <a:t>Kontrollieren: Top-5 priorisieren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607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Nicht alles kommt in den 1-Seiten-Bericht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38404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M322 | Usability-Bewertungsbericht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600200"/>
            <a:ext cx="3429000" cy="24688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600200"/>
            <a:ext cx="73152" cy="2468880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764792"/>
            <a:ext cx="30632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Calibri"/>
              </a:rPr>
              <a:t>1. Doppelte Punkte bündeln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2221992"/>
            <a:ext cx="2971800" cy="1783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- Dopplungen entfernen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- Ursachen zusammenfassen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- unklare Punkte prüfen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600200"/>
            <a:ext cx="3429000" cy="24688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600200"/>
            <a:ext cx="73152" cy="2468880"/>
          </a:xfrm>
          <a:prstGeom prst="rect">
            <a:avLst/>
          </a:prstGeom>
          <a:solidFill>
            <a:srgbClr val="2563EB"/>
          </a:solidFill>
          <a:ln w="12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1764792"/>
            <a:ext cx="30632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Calibri"/>
              </a:rPr>
              <a:t>2. Schwere einschätzen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221992"/>
            <a:ext cx="2971800" cy="1783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- Häufigkeit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- Auswirkung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- Beharrlichkeit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1600200"/>
            <a:ext cx="3429000" cy="24688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01000" y="1600200"/>
            <a:ext cx="73152" cy="2468880"/>
          </a:xfrm>
          <a:prstGeom prst="rect">
            <a:avLst/>
          </a:prstGeom>
          <a:solidFill>
            <a:srgbClr val="D97706"/>
          </a:solidFill>
          <a:ln w="127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1764792"/>
            <a:ext cx="30632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Calibri"/>
              </a:rPr>
              <a:t>3. Top-5 wählen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2221992"/>
            <a:ext cx="2971800" cy="1783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- stört Task-Erfolg stark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- gut belegbar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- Fix konkret beschreibbar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1560" y="5074920"/>
            <a:ext cx="10058400" cy="731520"/>
          </a:xfrm>
          <a:prstGeom prst="rect">
            <a:avLst/>
          </a:prstGeom>
          <a:solidFill>
            <a:srgbClr val="CCFBF1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80160" y="5257800"/>
            <a:ext cx="960120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900" b="1">
                <a:solidFill>
                  <a:srgbClr val="0F766E"/>
                </a:solidFill>
                <a:latin typeface="Calibri"/>
              </a:rPr>
              <a:t>Top-5 = wichtig für den Task-Erfolg, belegbar und realistisch lösbar.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Calibri"/>
              </a:rPr>
              <a:t>Arbeitsphase Woche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607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1 A4-Bericht schreiben und abgeben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38404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M322 | Usability-Bewertungsbericht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600200"/>
            <a:ext cx="5257800" cy="32918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600200"/>
            <a:ext cx="73152" cy="3291840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764792"/>
            <a:ext cx="4892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Calibri"/>
              </a:rPr>
              <a:t>Empfohlene Struktur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2221992"/>
            <a:ext cx="4800600" cy="2606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- Einleitung: Produkt, Zielgruppe, Zweck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- Methode: Regelwerk und 3 Tasks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- Ergebnisse: Stärken und Top-5 Probleme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- Fazit: Risiko, Quick Win, nächster Schritt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600200"/>
            <a:ext cx="5074920" cy="32918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46520" y="1600200"/>
            <a:ext cx="73152" cy="3291840"/>
          </a:xfrm>
          <a:prstGeom prst="rect">
            <a:avLst/>
          </a:prstGeom>
          <a:solidFill>
            <a:srgbClr val="2563EB"/>
          </a:solidFill>
          <a:ln w="12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1764792"/>
            <a:ext cx="4709159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Calibri"/>
              </a:rPr>
              <a:t>Peer-Review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2552" y="2221992"/>
            <a:ext cx="4617720" cy="2606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- positive und negative Punkte vorhanden?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- Belege sichtbar?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- Verbesserungen konkret?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- passt alles auf 1 Seite?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5349240"/>
            <a:ext cx="10149840" cy="594360"/>
          </a:xfrm>
          <a:prstGeom prst="rect">
            <a:avLst/>
          </a:prstGeom>
          <a:solidFill>
            <a:srgbClr val="CCFBF1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440" y="5532120"/>
            <a:ext cx="969264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2000" b="1">
                <a:solidFill>
                  <a:srgbClr val="0F766E"/>
                </a:solidFill>
                <a:latin typeface="Calibri"/>
              </a:rPr>
              <a:t>Abgabe: Teams-Aufgabe, Dateiname korrekt, sachliche Sprache.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Calibri"/>
              </a:rPr>
              <a:t>Takeaways und nächster Schritt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607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Das sollte am Ende sitzen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38404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M322 | Usability-Bewertungsbericht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691640"/>
            <a:ext cx="347472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691640"/>
            <a:ext cx="73152" cy="2057400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856232"/>
            <a:ext cx="310896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Calibri"/>
              </a:rPr>
              <a:t>Takeaway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2331720"/>
            <a:ext cx="3017520" cy="12801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Calibri"/>
              </a:rPr>
              <a:t>Usability-Bewertung ist keine Geschmacksfrage.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691640"/>
            <a:ext cx="347472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691640"/>
            <a:ext cx="73152" cy="2057400"/>
          </a:xfrm>
          <a:prstGeom prst="rect">
            <a:avLst/>
          </a:prstGeom>
          <a:solidFill>
            <a:srgbClr val="2563EB"/>
          </a:solidFill>
          <a:ln w="12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1856232"/>
            <a:ext cx="310896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Calibri"/>
              </a:rPr>
              <a:t>Takeaway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331720"/>
            <a:ext cx="3017520" cy="12801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Calibri"/>
              </a:rPr>
              <a:t>Ein gutes Finding verbindet Ort, Regel, Wirkung, Fix und Beleg.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1691640"/>
            <a:ext cx="347472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01000" y="1691640"/>
            <a:ext cx="73152" cy="2057400"/>
          </a:xfrm>
          <a:prstGeom prst="rect">
            <a:avLst/>
          </a:prstGeom>
          <a:solidFill>
            <a:srgbClr val="D97706"/>
          </a:solidFill>
          <a:ln w="127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1856232"/>
            <a:ext cx="310896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Calibri"/>
              </a:rPr>
              <a:t>Takeaway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2331720"/>
            <a:ext cx="3017520" cy="12801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Calibri"/>
              </a:rPr>
              <a:t>Der Bericht ist kurz: Top-5, Stärken, Fazit - alles auf 1 A4-Seite.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983480"/>
            <a:ext cx="10378440" cy="777240"/>
          </a:xfrm>
          <a:prstGeom prst="rect">
            <a:avLst/>
          </a:prstGeom>
          <a:solidFill>
            <a:srgbClr val="CCFBF1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43000" y="5166360"/>
            <a:ext cx="9921240" cy="59435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2000" b="1">
                <a:solidFill>
                  <a:srgbClr val="0F766E"/>
                </a:solidFill>
                <a:latin typeface="Calibri"/>
              </a:rPr>
              <a:t>Jetzt: Evaluationsplan öffnen, 3 Top-Tasks festlegen, erstes Finding dokumentieren.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EEF2D694014574E91AD775DBAF8A2AE" ma:contentTypeVersion="12" ma:contentTypeDescription="Ein neues Dokument erstellen." ma:contentTypeScope="" ma:versionID="ab5a0be52676d0c5a901476bf81798f5">
  <xsd:schema xmlns:xsd="http://www.w3.org/2001/XMLSchema" xmlns:xs="http://www.w3.org/2001/XMLSchema" xmlns:p="http://schemas.microsoft.com/office/2006/metadata/properties" xmlns:ns2="f03673b7-f2b9-4185-9252-fb0232b62000" xmlns:ns3="52055897-a0cf-4d17-9d65-d43b1af0c331" targetNamespace="http://schemas.microsoft.com/office/2006/metadata/properties" ma:root="true" ma:fieldsID="85268aedb641a081a369588b64843d18" ns2:_="" ns3:_="">
    <xsd:import namespace="f03673b7-f2b9-4185-9252-fb0232b62000"/>
    <xsd:import namespace="52055897-a0cf-4d17-9d65-d43b1af0c331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3673b7-f2b9-4185-9252-fb0232b62000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Bildmarkierungen" ma:readOnly="false" ma:fieldId="{5cf76f15-5ced-4ddc-b409-7134ff3c332f}" ma:taxonomyMulti="true" ma:sspId="a16ba4c5-514f-471a-8004-1e490f97374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055897-a0cf-4d17-9d65-d43b1af0c331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61aedd7-f288-4059-b50c-62283f402ba3}" ma:internalName="TaxCatchAll" ma:showField="CatchAllData" ma:web="52055897-a0cf-4d17-9d65-d43b1af0c33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03673b7-f2b9-4185-9252-fb0232b62000">
      <Terms xmlns="http://schemas.microsoft.com/office/infopath/2007/PartnerControls"/>
    </lcf76f155ced4ddcb4097134ff3c332f>
    <TaxCatchAll xmlns="52055897-a0cf-4d17-9d65-d43b1af0c331" xsi:nil="true"/>
  </documentManagement>
</p:properties>
</file>

<file path=customXml/itemProps1.xml><?xml version="1.0" encoding="utf-8"?>
<ds:datastoreItem xmlns:ds="http://schemas.openxmlformats.org/officeDocument/2006/customXml" ds:itemID="{117DE1D6-BE98-4CA3-A027-7CD1CA85C374}"/>
</file>

<file path=customXml/itemProps2.xml><?xml version="1.0" encoding="utf-8"?>
<ds:datastoreItem xmlns:ds="http://schemas.openxmlformats.org/officeDocument/2006/customXml" ds:itemID="{E5963806-C693-4870-B237-04C926DB83F0}"/>
</file>

<file path=customXml/itemProps3.xml><?xml version="1.0" encoding="utf-8"?>
<ds:datastoreItem xmlns:ds="http://schemas.openxmlformats.org/officeDocument/2006/customXml" ds:itemID="{0A694FEE-1D07-4DC9-AFD8-54EAA0D09212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1184</Words>
  <Application>Microsoft Office PowerPoint</Application>
  <PresentationFormat>Breitbild</PresentationFormat>
  <Paragraphs>255</Paragraphs>
  <Slides>18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Markus Ineichen</dc:creator>
  <cp:keywords/>
  <dc:description>generated using python-pptx</dc:description>
  <cp:lastModifiedBy>Markus Ineichen</cp:lastModifiedBy>
  <cp:revision>1</cp:revision>
  <dcterms:created xsi:type="dcterms:W3CDTF">2013-01-27T09:14:16Z</dcterms:created>
  <dcterms:modified xsi:type="dcterms:W3CDTF">2026-05-11T19:18:09Z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0x0101001EEF2D694014574E91AD775DBAF8A2AE</vt:lpwstr>
  </property>
</Properties>
</file>